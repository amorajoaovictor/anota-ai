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9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E25B5-1734-468A-BBCB-51B12BE39A8A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5E416-2F42-4F29-9BB0-1E39679F8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714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[Sources]</a:t>
            </a:r>
          </a:p>
          <a:p>
            <a:r>
              <a:rPr lang="pt-BR"/>
              <a:t>- documentacao-projeto-organizador/README.md</a:t>
            </a:r>
          </a:p>
          <a:p>
            <a:r>
              <a:rPr lang="pt-BR"/>
              <a:t>- documentacao-projeto-organizador/05-ideacao-e-funcionalidades.md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5E416-2F42-4F29-9BB0-1E39679F8AE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389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[Sources]</a:t>
            </a:r>
          </a:p>
          <a:p>
            <a:r>
              <a:rPr lang="pt-BR"/>
              <a:t>- documentacao-projeto-organizador/01-descricao-do-problema.md</a:t>
            </a:r>
          </a:p>
          <a:p>
            <a:r>
              <a:rPr lang="pt-BR"/>
              <a:t>- documentacao-projeto-organizador/02-espaco-do-problema.md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5E416-2F42-4F29-9BB0-1E39679F8AE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4928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[Sources]</a:t>
            </a:r>
          </a:p>
          <a:p>
            <a:r>
              <a:rPr lang="pt-BR"/>
              <a:t>- documentacao-projeto-organizador/02-espaco-do-problema.md</a:t>
            </a:r>
          </a:p>
          <a:p>
            <a:r>
              <a:rPr lang="pt-BR"/>
              <a:t>- documentacao-projeto-organizador/03-coleta-de-dados.md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5E416-2F42-4F29-9BB0-1E39679F8AE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7089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[Sources]</a:t>
            </a:r>
          </a:p>
          <a:p>
            <a:r>
              <a:rPr lang="pt-BR"/>
              <a:t>- documentacao-projeto-organizador/04-persona.md</a:t>
            </a:r>
          </a:p>
          <a:p>
            <a:r>
              <a:rPr lang="pt-BR"/>
              <a:t>- documentacao-projeto-organizador/03-coleta-de-dados.md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5E416-2F42-4F29-9BB0-1E39679F8AE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112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[Sources]</a:t>
            </a:r>
          </a:p>
          <a:p>
            <a:r>
              <a:rPr lang="pt-BR"/>
              <a:t>- documentacao-projeto-organizador/05-ideacao-e-funcionalidades.md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5E416-2F42-4F29-9BB0-1E39679F8AE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7399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[Sources]</a:t>
            </a:r>
          </a:p>
          <a:p>
            <a:r>
              <a:rPr lang="pt-BR"/>
              <a:t>- documentacao-projeto-organizador/05-ideacao-e-funcionalidades.md</a:t>
            </a:r>
          </a:p>
          <a:p>
            <a:r>
              <a:rPr lang="pt-BR"/>
              <a:t>- documentacao-projeto-organizador/07-mapa-da-jornada.md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5E416-2F42-4F29-9BB0-1E39679F8AEA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040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[Sources]</a:t>
            </a:r>
          </a:p>
          <a:p>
            <a:r>
              <a:rPr lang="pt-BR"/>
              <a:t>- documentacao-projeto-organizador/06-cenarios-positivo-negativo.md</a:t>
            </a:r>
          </a:p>
          <a:p>
            <a:r>
              <a:rPr lang="pt-BR"/>
              <a:t>- documentacao-projeto-organizador/09-documento-de-requisitos.md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5E416-2F42-4F29-9BB0-1E39679F8AEA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107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[Sources]</a:t>
            </a:r>
          </a:p>
          <a:p>
            <a:r>
              <a:rPr lang="pt-BR"/>
              <a:t>- documentacao-projeto-organizador/07-mapa-da-jornada.md</a:t>
            </a:r>
          </a:p>
          <a:p>
            <a:r>
              <a:rPr lang="pt-BR"/>
              <a:t>- documentacao-projeto-organizador/10-prototipo-alta-fidelidade.md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5E416-2F42-4F29-9BB0-1E39679F8AE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3198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[Sources]</a:t>
            </a:r>
          </a:p>
          <a:p>
            <a:r>
              <a:rPr lang="pt-BR"/>
              <a:t>- documentacao-projeto-organizador/09-documento-de-requisitos.md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5E416-2F42-4F29-9BB0-1E39679F8AE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074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[Sources]</a:t>
            </a:r>
          </a:p>
          <a:p>
            <a:r>
              <a:rPr lang="pt-BR"/>
              <a:t>- documentacao-projeto-organizador/03-coleta-de-dados.md</a:t>
            </a:r>
          </a:p>
          <a:p>
            <a:r>
              <a:rPr lang="pt-BR"/>
              <a:t>- documentacao-projeto-organizador/08-model-business-canvas.md</a:t>
            </a:r>
          </a:p>
          <a:p>
            <a:r>
              <a:rPr lang="pt-BR"/>
              <a:t>- documentacao-projeto-organizador/10-prototipo-alta-fidelidade.md</a:t>
            </a:r>
          </a:p>
          <a:p>
            <a:r>
              <a:rPr lang="pt-BR"/>
              <a:t>- documentacao-projeto-organizador/README.md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5E416-2F42-4F29-9BB0-1E39679F8AEA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7792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A3925-AF1A-4311-52B7-3572F0D45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88EF15-D4D9-6635-E5BE-05DDB127F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B778C9-3EFF-FE1E-8D67-715822C7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2006-280B-4883-BAB4-5C026ABF2556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F4CFCB-62B1-5D6A-5507-367F726F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83F0E6-F78D-7845-FD18-522A225F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D3F3C-3844-4B4B-93D9-EAA2909658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016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46A18-EE7D-D654-5EA2-977CE5F3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798C85-1F9D-C10F-F298-6F0663322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021817-0EF4-4017-B33E-B1C79304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2006-280B-4883-BAB4-5C026ABF2556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AAD4A1-E8CB-7F54-5906-7D43CF31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390F62-DB97-5069-B010-FC781B694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D3F3C-3844-4B4B-93D9-EAA2909658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086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FB8CC-08FD-0A00-2A67-363E63F42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DF5878-3B21-AEDF-0363-EA8A47356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6EA339-6C81-AC72-F318-7254C641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2006-280B-4883-BAB4-5C026ABF2556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572939-7909-04E7-71DF-AE9645484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977610-704E-B783-2C40-B4F94CB7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D3F3C-3844-4B4B-93D9-EAA2909658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2206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5B19B-A7B9-9DD4-1B69-E6F0E22B1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45238B-D19F-6ACE-8DD7-BB2C3082B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600899-7FA0-674F-AB63-FADBC733C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39D1F7-E83A-BC80-D8A9-D01FB5AEB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2006-280B-4883-BAB4-5C026ABF2556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62260B-3E47-32A2-2596-7166D609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2BBBA6-7442-A8AF-23C7-68B079C6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D3F3C-3844-4B4B-93D9-EAA2909658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6224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C37D2-65CA-B4A2-3189-A693B07A8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4F6981-D2E1-F0D1-94DE-B8DEA3970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A583F3-099E-C1CC-E046-23420FEDB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C69427-FD10-2721-2AD6-8B07B57FC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A3510B-7AF0-EBA3-7434-9561C5545A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1BA9FB-CC9E-5103-DC96-DEB0CBEC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2006-280B-4883-BAB4-5C026ABF2556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15A74FA-6F93-9E69-252B-20BFECEC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B6C7964-FEB1-4988-FB96-E3D57582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D3F3C-3844-4B4B-93D9-EAA2909658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92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4375-C28C-2A99-D630-D267AC7D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2B4BC96-24C8-B623-6158-58DFBC76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2006-280B-4883-BAB4-5C026ABF2556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F8FA034-8D08-C26D-6535-0189D311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E0C0162-708C-83F2-2424-E5C8283C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D3F3C-3844-4B4B-93D9-EAA2909658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297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1A3FEA3-D9FF-C209-183E-2931D3DF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2006-280B-4883-BAB4-5C026ABF2556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09EADC6-7280-9311-52BB-3131B845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473BD6-AE02-824B-19FC-2D1A18E94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D3F3C-3844-4B4B-93D9-EAA2909658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119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D96B1-9756-6BCC-C6FE-AB41C42DA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DE0143-7156-B3C4-BDBD-6020D2AD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390588-919C-AA2C-7D36-E3C760B9B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FD6CE1-BCAA-DFB2-57DA-1641351E3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2006-280B-4883-BAB4-5C026ABF2556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4ADAD0-5147-A243-F34A-26A1150CC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66F726-2AE9-5C1E-07AB-C0E850C3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D3F3C-3844-4B4B-93D9-EAA2909658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924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19CFE-EF68-D767-84D1-4B30A4C8D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5A9DB5B-62F1-54CB-688D-B8D18B985C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AE9F22-E339-FCA5-7B52-5CF315AEE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813765-C4B4-B47B-69AE-667048B35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2006-280B-4883-BAB4-5C026ABF2556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D74E22-E9A3-F50C-18A4-5E487D21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00DD47-7D14-A0B5-F4A7-5581F8BE7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D3F3C-3844-4B4B-93D9-EAA2909658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86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95F4B-FEDC-3E01-1738-92F4AD9D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AF9ADA-8171-DD01-EB85-E8F990491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8C18D8-3C7D-418B-F765-CCD7AD015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2006-280B-4883-BAB4-5C026ABF2556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23A476-B1D4-EF40-6246-1081814F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901725-B908-AC40-867E-981ED1CA9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D3F3C-3844-4B4B-93D9-EAA2909658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80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5C5E84-1C93-1096-2DC4-C20075AC96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FE41BD1-A70A-8C67-B207-CE79479A6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5382E1-072B-3839-1A56-CA841AA75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2006-280B-4883-BAB4-5C026ABF2556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7CCBEB-DE8C-53F8-B8A4-A0A0FC723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EA719E-57C8-0967-5159-B2F280465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D3F3C-3844-4B4B-93D9-EAA2909658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5785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ED93AF7-3BAE-2709-4AA0-1EF96F756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5F4DC6-89AD-62DB-F3EC-531A855C5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B9271D-4E7F-A2D6-2EF9-5588C45A3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72006-280B-4883-BAB4-5C026ABF2556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833C44-258F-6D56-1D75-854180C37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26D374-03DE-6691-8344-9F0B1D684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D3F3C-3844-4B4B-93D9-EAA2909658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47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45856F0-0597-C811-EF64-CE027F2E45B1}"/>
              </a:ext>
            </a:extLst>
          </p:cNvPr>
          <p:cNvSpPr txBox="1"/>
          <p:nvPr/>
        </p:nvSpPr>
        <p:spPr>
          <a:xfrm>
            <a:off x="914400" y="5588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b="1">
                <a:solidFill>
                  <a:srgbClr val="2F80ED"/>
                </a:solidFill>
                <a:latin typeface="Aptos" panose="020B0004020202020204" pitchFamily="34" charset="0"/>
              </a:rPr>
              <a:t>DEFESA DE IDEIA  •  PROJETO DE PRODUTO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5DBD32-C713-3DA4-95E1-6783DBD7BBDA}"/>
              </a:ext>
            </a:extLst>
          </p:cNvPr>
          <p:cNvSpPr txBox="1"/>
          <p:nvPr/>
        </p:nvSpPr>
        <p:spPr>
          <a:xfrm>
            <a:off x="914400" y="1600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4600" b="1">
                <a:solidFill>
                  <a:srgbClr val="111827"/>
                </a:solidFill>
                <a:latin typeface="Aptos" panose="020B0004020202020204" pitchFamily="34" charset="0"/>
              </a:rPr>
              <a:t>Organizador para
Programadores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56DB354-2BE7-AD5E-0E6A-EF634C64A29C}"/>
              </a:ext>
            </a:extLst>
          </p:cNvPr>
          <p:cNvSpPr txBox="1"/>
          <p:nvPr/>
        </p:nvSpPr>
        <p:spPr>
          <a:xfrm>
            <a:off x="914400" y="34290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>
                <a:solidFill>
                  <a:srgbClr val="4B5563"/>
                </a:solidFill>
                <a:latin typeface="Aptos" panose="020B0004020202020204" pitchFamily="34" charset="0"/>
              </a:rPr>
              <a:t>Uma experiência única para capturar ideias, organizar tarefas e acompanhar o roadmap.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083A31-B27C-A70B-61EE-94BADABE652F}"/>
              </a:ext>
            </a:extLst>
          </p:cNvPr>
          <p:cNvSpPr txBox="1"/>
          <p:nvPr/>
        </p:nvSpPr>
        <p:spPr>
          <a:xfrm>
            <a:off x="914400" y="48514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b="1">
                <a:solidFill>
                  <a:srgbClr val="111827"/>
                </a:solidFill>
                <a:latin typeface="Aptos" panose="020B0004020202020204" pitchFamily="34" charset="0"/>
              </a:rPr>
              <a:t>Pergunta central: como reduzir a distância entre uma ideia e um plano executável?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68C0C58-0BBD-73F3-37D6-072866AFAF94}"/>
              </a:ext>
            </a:extLst>
          </p:cNvPr>
          <p:cNvCxnSpPr/>
          <p:nvPr/>
        </p:nvCxnSpPr>
        <p:spPr>
          <a:xfrm>
            <a:off x="7620000" y="1460500"/>
            <a:ext cx="0" cy="356870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49CE60-99BD-D220-EC2D-C7551DC0220C}"/>
              </a:ext>
            </a:extLst>
          </p:cNvPr>
          <p:cNvSpPr txBox="1"/>
          <p:nvPr/>
        </p:nvSpPr>
        <p:spPr>
          <a:xfrm>
            <a:off x="8255000" y="1168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4B5563"/>
                </a:solidFill>
                <a:latin typeface="Aptos" panose="020B0004020202020204" pitchFamily="34" charset="0"/>
              </a:rPr>
              <a:t>UMA IDEIA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22D1D05-5C86-8E20-4A75-E3685A56CD2E}"/>
              </a:ext>
            </a:extLst>
          </p:cNvPr>
          <p:cNvSpPr/>
          <p:nvPr/>
        </p:nvSpPr>
        <p:spPr>
          <a:xfrm>
            <a:off x="8255000" y="1727200"/>
            <a:ext cx="2413000" cy="685800"/>
          </a:xfrm>
          <a:prstGeom prst="roundRect">
            <a:avLst/>
          </a:prstGeom>
          <a:solidFill>
            <a:srgbClr val="E0F3FC"/>
          </a:solidFill>
          <a:ln w="12700">
            <a:solidFill>
              <a:srgbClr val="2F80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023AF24-B894-7E77-1BD7-6B97A4B54FD4}"/>
              </a:ext>
            </a:extLst>
          </p:cNvPr>
          <p:cNvSpPr txBox="1"/>
          <p:nvPr/>
        </p:nvSpPr>
        <p:spPr>
          <a:xfrm>
            <a:off x="8255000" y="19431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700" b="1">
                <a:solidFill>
                  <a:srgbClr val="111827"/>
                </a:solidFill>
                <a:latin typeface="Aptos" panose="020B0004020202020204" pitchFamily="34" charset="0"/>
              </a:rPr>
              <a:t>texto livre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20474EC-9EF8-E7A0-6FD1-A40C9349D3EF}"/>
              </a:ext>
            </a:extLst>
          </p:cNvPr>
          <p:cNvCxnSpPr/>
          <p:nvPr/>
        </p:nvCxnSpPr>
        <p:spPr>
          <a:xfrm>
            <a:off x="9461500" y="2413000"/>
            <a:ext cx="0" cy="355600"/>
          </a:xfrm>
          <a:prstGeom prst="line">
            <a:avLst/>
          </a:prstGeom>
          <a:ln w="25400">
            <a:solidFill>
              <a:srgbClr val="2F80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68834ED-9D9E-ACF4-0489-49AFC1EDC66B}"/>
              </a:ext>
            </a:extLst>
          </p:cNvPr>
          <p:cNvSpPr/>
          <p:nvPr/>
        </p:nvSpPr>
        <p:spPr>
          <a:xfrm>
            <a:off x="8255000" y="2794000"/>
            <a:ext cx="2413000" cy="685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6D2B53D-C828-EE55-66E5-80513CF334B9}"/>
              </a:ext>
            </a:extLst>
          </p:cNvPr>
          <p:cNvSpPr txBox="1"/>
          <p:nvPr/>
        </p:nvSpPr>
        <p:spPr>
          <a:xfrm>
            <a:off x="8255000" y="3009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700" b="1">
                <a:solidFill>
                  <a:srgbClr val="111827"/>
                </a:solidFill>
                <a:latin typeface="Aptos" panose="020B0004020202020204" pitchFamily="34" charset="0"/>
              </a:rPr>
              <a:t>IA sugere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9004BE50-1F06-32E7-43C0-9DAF030049EF}"/>
              </a:ext>
            </a:extLst>
          </p:cNvPr>
          <p:cNvCxnSpPr/>
          <p:nvPr/>
        </p:nvCxnSpPr>
        <p:spPr>
          <a:xfrm>
            <a:off x="9461500" y="3479800"/>
            <a:ext cx="0" cy="355600"/>
          </a:xfrm>
          <a:prstGeom prst="line">
            <a:avLst/>
          </a:prstGeom>
          <a:ln w="25400">
            <a:solidFill>
              <a:srgbClr val="2F80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38556750-DB6A-8057-ADD6-4DA6EC9FD54A}"/>
              </a:ext>
            </a:extLst>
          </p:cNvPr>
          <p:cNvSpPr/>
          <p:nvPr/>
        </p:nvSpPr>
        <p:spPr>
          <a:xfrm>
            <a:off x="7810500" y="3860800"/>
            <a:ext cx="330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1C16BB4-0872-7B3C-9559-5CAADA8E440A}"/>
              </a:ext>
            </a:extLst>
          </p:cNvPr>
          <p:cNvSpPr txBox="1"/>
          <p:nvPr/>
        </p:nvSpPr>
        <p:spPr>
          <a:xfrm>
            <a:off x="7810500" y="40767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600" b="1">
                <a:solidFill>
                  <a:srgbClr val="111827"/>
                </a:solidFill>
                <a:latin typeface="Aptos" panose="020B0004020202020204" pitchFamily="34" charset="0"/>
              </a:rPr>
              <a:t>usuário revisa e confirma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CB384CE0-4675-5A17-0521-33E8F6A20F74}"/>
              </a:ext>
            </a:extLst>
          </p:cNvPr>
          <p:cNvCxnSpPr/>
          <p:nvPr/>
        </p:nvCxnSpPr>
        <p:spPr>
          <a:xfrm flipH="1">
            <a:off x="8255000" y="4546600"/>
            <a:ext cx="508000" cy="635000"/>
          </a:xfrm>
          <a:prstGeom prst="line">
            <a:avLst/>
          </a:prstGeom>
          <a:ln w="25400">
            <a:solidFill>
              <a:srgbClr val="2F80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00D09776-3976-7581-97B1-134502F72135}"/>
              </a:ext>
            </a:extLst>
          </p:cNvPr>
          <p:cNvCxnSpPr/>
          <p:nvPr/>
        </p:nvCxnSpPr>
        <p:spPr>
          <a:xfrm>
            <a:off x="10160000" y="4546600"/>
            <a:ext cx="508000" cy="635000"/>
          </a:xfrm>
          <a:prstGeom prst="line">
            <a:avLst/>
          </a:prstGeom>
          <a:ln w="25400">
            <a:solidFill>
              <a:srgbClr val="2F80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67DD3C7-9DD3-B7F0-064B-C11C72100370}"/>
              </a:ext>
            </a:extLst>
          </p:cNvPr>
          <p:cNvSpPr/>
          <p:nvPr/>
        </p:nvSpPr>
        <p:spPr>
          <a:xfrm>
            <a:off x="7429500" y="5245100"/>
            <a:ext cx="1905000" cy="5842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BD9EE43-8835-C43E-6EC6-D0DC7D3BAC16}"/>
              </a:ext>
            </a:extLst>
          </p:cNvPr>
          <p:cNvSpPr txBox="1"/>
          <p:nvPr/>
        </p:nvSpPr>
        <p:spPr>
          <a:xfrm>
            <a:off x="7429500" y="5422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 b="1">
                <a:solidFill>
                  <a:srgbClr val="111827"/>
                </a:solidFill>
                <a:latin typeface="Aptos" panose="020B0004020202020204" pitchFamily="34" charset="0"/>
              </a:rPr>
              <a:t>Kanban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E21FD99-2FB6-3110-3FBB-8621530B5AE7}"/>
              </a:ext>
            </a:extLst>
          </p:cNvPr>
          <p:cNvSpPr/>
          <p:nvPr/>
        </p:nvSpPr>
        <p:spPr>
          <a:xfrm>
            <a:off x="9525000" y="5245100"/>
            <a:ext cx="1905000" cy="5842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1187664-BDF2-3EFB-9FB8-99289FC482B2}"/>
              </a:ext>
            </a:extLst>
          </p:cNvPr>
          <p:cNvSpPr txBox="1"/>
          <p:nvPr/>
        </p:nvSpPr>
        <p:spPr>
          <a:xfrm>
            <a:off x="9525000" y="5422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 b="1">
                <a:solidFill>
                  <a:srgbClr val="111827"/>
                </a:solidFill>
                <a:latin typeface="Aptos" panose="020B0004020202020204" pitchFamily="34" charset="0"/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1828271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D6B238D-8DB9-8C7A-6544-5214B1283414}"/>
              </a:ext>
            </a:extLst>
          </p:cNvPr>
          <p:cNvSpPr txBox="1"/>
          <p:nvPr/>
        </p:nvSpPr>
        <p:spPr>
          <a:xfrm>
            <a:off x="914400" y="533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PROBLEMA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F02C179-9291-1638-A00D-2DCA092C5412}"/>
              </a:ext>
            </a:extLst>
          </p:cNvPr>
          <p:cNvSpPr txBox="1"/>
          <p:nvPr/>
        </p:nvSpPr>
        <p:spPr>
          <a:xfrm>
            <a:off x="914400" y="952500"/>
            <a:ext cx="1036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11827"/>
                </a:solidFill>
                <a:latin typeface="Aptos" panose="020B0004020202020204" pitchFamily="34" charset="0"/>
              </a:rPr>
              <a:t>O problema é a falta de continuidade.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6A79CBA-98A1-8B1F-CFDD-82EBE16DBB7D}"/>
              </a:ext>
            </a:extLst>
          </p:cNvPr>
          <p:cNvCxnSpPr/>
          <p:nvPr/>
        </p:nvCxnSpPr>
        <p:spPr>
          <a:xfrm>
            <a:off x="914400" y="6413500"/>
            <a:ext cx="103632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AB172A-1E98-BE2B-7617-6BAAD2FE821F}"/>
              </a:ext>
            </a:extLst>
          </p:cNvPr>
          <p:cNvSpPr txBox="1"/>
          <p:nvPr/>
        </p:nvSpPr>
        <p:spPr>
          <a:xfrm>
            <a:off x="914400" y="6527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 b="1">
                <a:solidFill>
                  <a:srgbClr val="4B5563"/>
                </a:solidFill>
                <a:latin typeface="Aptos" panose="020B0004020202020204" pitchFamily="34" charset="0"/>
              </a:rPr>
              <a:t>ORGANIZADOR PARA PROGRAMADORES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DB608E-FFAB-EA58-E87C-AE0ED73F90DC}"/>
              </a:ext>
            </a:extLst>
          </p:cNvPr>
          <p:cNvSpPr txBox="1"/>
          <p:nvPr/>
        </p:nvSpPr>
        <p:spPr>
          <a:xfrm>
            <a:off x="10414000" y="6527800"/>
            <a:ext cx="86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4B5563"/>
                </a:solidFill>
                <a:latin typeface="Aptos" panose="020B0004020202020204" pitchFamily="34" charset="0"/>
              </a:rPr>
              <a:t>02 / 10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90A3521-E221-84CD-8059-B167561ECB7D}"/>
              </a:ext>
            </a:extLst>
          </p:cNvPr>
          <p:cNvSpPr/>
          <p:nvPr/>
        </p:nvSpPr>
        <p:spPr>
          <a:xfrm>
            <a:off x="914400" y="2095500"/>
            <a:ext cx="5334000" cy="2921000"/>
          </a:xfrm>
          <a:prstGeom prst="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3ADDAD-8CD7-8390-3920-239A23C58E09}"/>
              </a:ext>
            </a:extLst>
          </p:cNvPr>
          <p:cNvSpPr txBox="1"/>
          <p:nvPr/>
        </p:nvSpPr>
        <p:spPr>
          <a:xfrm>
            <a:off x="1270000" y="2603500"/>
            <a:ext cx="463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 b="1">
                <a:solidFill>
                  <a:srgbClr val="FFFFFF"/>
                </a:solidFill>
                <a:latin typeface="Aptos" panose="020B0004020202020204" pitchFamily="34" charset="0"/>
              </a:rPr>
              <a:t>“Programadores precisam organizar ideias, tarefas e roadmaps, mas ferramentas fragmentadas e processos manuais dificultam o acompanhamento.”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DF89360-B53C-CE02-D643-3854820C9847}"/>
              </a:ext>
            </a:extLst>
          </p:cNvPr>
          <p:cNvSpPr txBox="1"/>
          <p:nvPr/>
        </p:nvSpPr>
        <p:spPr>
          <a:xfrm>
            <a:off x="1270000" y="2235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E0F3FC"/>
                </a:solidFill>
                <a:latin typeface="Aptos" panose="020B0004020202020204" pitchFamily="34" charset="0"/>
              </a:rPr>
              <a:t>PROBLEMA CENTRAL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154A3EA-4018-E675-38E2-0A76DCE2B83B}"/>
              </a:ext>
            </a:extLst>
          </p:cNvPr>
          <p:cNvSpPr txBox="1"/>
          <p:nvPr/>
        </p:nvSpPr>
        <p:spPr>
          <a:xfrm>
            <a:off x="7112000" y="2133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 b="1">
                <a:solidFill>
                  <a:srgbClr val="111827"/>
                </a:solidFill>
                <a:latin typeface="Aptos" panose="020B0004020202020204" pitchFamily="34" charset="0"/>
              </a:rPr>
              <a:t>Hoje, uma ideia precisa atravessar várias ferramentas antes de virar execução.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51C5F92-8607-2036-C04E-9EF4709215EF}"/>
              </a:ext>
            </a:extLst>
          </p:cNvPr>
          <p:cNvSpPr txBox="1"/>
          <p:nvPr/>
        </p:nvSpPr>
        <p:spPr>
          <a:xfrm>
            <a:off x="7112000" y="3632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4B5563"/>
                </a:solidFill>
                <a:latin typeface="Aptos" panose="020B0004020202020204" pitchFamily="34" charset="0"/>
              </a:rPr>
              <a:t>1  Ideia surge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722B339-E6DC-CE65-A1D3-3B80182040AD}"/>
              </a:ext>
            </a:extLst>
          </p:cNvPr>
          <p:cNvSpPr txBox="1"/>
          <p:nvPr/>
        </p:nvSpPr>
        <p:spPr>
          <a:xfrm>
            <a:off x="7112000" y="4064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4B5563"/>
                </a:solidFill>
                <a:latin typeface="Aptos" panose="020B0004020202020204" pitchFamily="34" charset="0"/>
              </a:rPr>
              <a:t>2  Nota separada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3199DA5-7450-B987-3B98-8A7B6D6E3FF6}"/>
              </a:ext>
            </a:extLst>
          </p:cNvPr>
          <p:cNvSpPr txBox="1"/>
          <p:nvPr/>
        </p:nvSpPr>
        <p:spPr>
          <a:xfrm>
            <a:off x="7112000" y="4495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4B5563"/>
                </a:solidFill>
                <a:latin typeface="Aptos" panose="020B0004020202020204" pitchFamily="34" charset="0"/>
              </a:rPr>
              <a:t>3  Tarefa criada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09CF9B0-A53B-1215-992E-4C4C33DB0EE8}"/>
              </a:ext>
            </a:extLst>
          </p:cNvPr>
          <p:cNvSpPr txBox="1"/>
          <p:nvPr/>
        </p:nvSpPr>
        <p:spPr>
          <a:xfrm>
            <a:off x="7112000" y="4927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4B5563"/>
                </a:solidFill>
                <a:latin typeface="Aptos" panose="020B0004020202020204" pitchFamily="34" charset="0"/>
              </a:rPr>
              <a:t>4  Kanban mantido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F915F82-F8FF-F812-8BEF-E952DAE27B69}"/>
              </a:ext>
            </a:extLst>
          </p:cNvPr>
          <p:cNvSpPr txBox="1"/>
          <p:nvPr/>
        </p:nvSpPr>
        <p:spPr>
          <a:xfrm>
            <a:off x="7112000" y="5359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4B5563"/>
                </a:solidFill>
                <a:latin typeface="Aptos" panose="020B0004020202020204" pitchFamily="34" charset="0"/>
              </a:rPr>
              <a:t>5  Roadmap atualizado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89EF575E-0F7D-97DD-7AEA-7CE25135794F}"/>
              </a:ext>
            </a:extLst>
          </p:cNvPr>
          <p:cNvCxnSpPr/>
          <p:nvPr/>
        </p:nvCxnSpPr>
        <p:spPr>
          <a:xfrm>
            <a:off x="7112000" y="5372100"/>
            <a:ext cx="381000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480BA49-420F-F898-828C-CA242977E6F7}"/>
              </a:ext>
            </a:extLst>
          </p:cNvPr>
          <p:cNvSpPr txBox="1"/>
          <p:nvPr/>
        </p:nvSpPr>
        <p:spPr>
          <a:xfrm>
            <a:off x="7112000" y="55753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b="1">
                <a:solidFill>
                  <a:srgbClr val="C45546"/>
                </a:solidFill>
                <a:latin typeface="Aptos" panose="020B0004020202020204" pitchFamily="34" charset="0"/>
              </a:rPr>
              <a:t>Custo invisível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BAE86F3-BD62-F536-7B0D-5FF3036055D0}"/>
              </a:ext>
            </a:extLst>
          </p:cNvPr>
          <p:cNvSpPr txBox="1"/>
          <p:nvPr/>
        </p:nvSpPr>
        <p:spPr>
          <a:xfrm>
            <a:off x="8953500" y="55753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4B5563"/>
                </a:solidFill>
                <a:latin typeface="Aptos" panose="020B0004020202020204" pitchFamily="34" charset="0"/>
              </a:rPr>
              <a:t>tempo gasto sincronizando informações em vez de avançar no projeto.</a:t>
            </a:r>
          </a:p>
        </p:txBody>
      </p:sp>
    </p:spTree>
    <p:extLst>
      <p:ext uri="{BB962C8B-B14F-4D97-AF65-F5344CB8AC3E}">
        <p14:creationId xmlns:p14="http://schemas.microsoft.com/office/powerpoint/2010/main" val="2006795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9671514-AAA7-CEE0-5071-2EF6E91E957F}"/>
              </a:ext>
            </a:extLst>
          </p:cNvPr>
          <p:cNvSpPr txBox="1"/>
          <p:nvPr/>
        </p:nvSpPr>
        <p:spPr>
          <a:xfrm>
            <a:off x="914400" y="533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CONTEXTO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F34E17-6892-6280-E41B-AC0D3BFE16FF}"/>
              </a:ext>
            </a:extLst>
          </p:cNvPr>
          <p:cNvSpPr txBox="1"/>
          <p:nvPr/>
        </p:nvSpPr>
        <p:spPr>
          <a:xfrm>
            <a:off x="914400" y="952500"/>
            <a:ext cx="1036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11827"/>
                </a:solidFill>
                <a:latin typeface="Aptos" panose="020B0004020202020204" pitchFamily="34" charset="0"/>
              </a:rPr>
              <a:t>Planejamento se perde na fragmentação.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4D5FE4F-E329-3BDE-0391-76A00B2FF373}"/>
              </a:ext>
            </a:extLst>
          </p:cNvPr>
          <p:cNvCxnSpPr/>
          <p:nvPr/>
        </p:nvCxnSpPr>
        <p:spPr>
          <a:xfrm>
            <a:off x="914400" y="6413500"/>
            <a:ext cx="103632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A4EB4563-1A56-E917-35BD-F807046D4909}"/>
              </a:ext>
            </a:extLst>
          </p:cNvPr>
          <p:cNvSpPr txBox="1"/>
          <p:nvPr/>
        </p:nvSpPr>
        <p:spPr>
          <a:xfrm>
            <a:off x="914400" y="6527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 b="1">
                <a:solidFill>
                  <a:srgbClr val="4B5563"/>
                </a:solidFill>
                <a:latin typeface="Aptos" panose="020B0004020202020204" pitchFamily="34" charset="0"/>
              </a:rPr>
              <a:t>ORGANIZADOR PARA PROGRAMADORES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5EC728E-EDAE-0CBE-37F3-3405FFC55482}"/>
              </a:ext>
            </a:extLst>
          </p:cNvPr>
          <p:cNvSpPr txBox="1"/>
          <p:nvPr/>
        </p:nvSpPr>
        <p:spPr>
          <a:xfrm>
            <a:off x="10414000" y="6527800"/>
            <a:ext cx="86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4B5563"/>
                </a:solidFill>
                <a:latin typeface="Aptos" panose="020B0004020202020204" pitchFamily="34" charset="0"/>
              </a:rPr>
              <a:t>03 / 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B9E189F-F1E2-5E17-8925-AC9CB44DB214}"/>
              </a:ext>
            </a:extLst>
          </p:cNvPr>
          <p:cNvSpPr txBox="1"/>
          <p:nvPr/>
        </p:nvSpPr>
        <p:spPr>
          <a:xfrm>
            <a:off x="914400" y="19685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>
                <a:solidFill>
                  <a:srgbClr val="4B5563"/>
                </a:solidFill>
                <a:latin typeface="Aptos" panose="020B0004020202020204" pitchFamily="34" charset="0"/>
              </a:rPr>
              <a:t>Cada ferramenta resolve uma parte. O usuário precisa criar a continuidade.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4C59071-6AB0-0748-0F94-4E767FC54406}"/>
              </a:ext>
            </a:extLst>
          </p:cNvPr>
          <p:cNvCxnSpPr/>
          <p:nvPr/>
        </p:nvCxnSpPr>
        <p:spPr>
          <a:xfrm>
            <a:off x="914400" y="2743200"/>
            <a:ext cx="2667000" cy="0"/>
          </a:xfrm>
          <a:prstGeom prst="line">
            <a:avLst/>
          </a:prstGeom>
          <a:ln w="38100">
            <a:solidFill>
              <a:srgbClr val="2F80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8E1B72-E779-56BC-F733-5362B74783B5}"/>
              </a:ext>
            </a:extLst>
          </p:cNvPr>
          <p:cNvSpPr txBox="1"/>
          <p:nvPr/>
        </p:nvSpPr>
        <p:spPr>
          <a:xfrm>
            <a:off x="914400" y="2946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2F80ED"/>
                </a:solidFill>
                <a:latin typeface="Aptos" panose="020B0004020202020204" pitchFamily="34" charset="0"/>
              </a:rPr>
              <a:t>CAPTURA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E4A6E16-9393-E7D5-61AA-8744F43A2571}"/>
              </a:ext>
            </a:extLst>
          </p:cNvPr>
          <p:cNvSpPr txBox="1"/>
          <p:nvPr/>
        </p:nvSpPr>
        <p:spPr>
          <a:xfrm>
            <a:off x="914400" y="33782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111827"/>
                </a:solidFill>
                <a:latin typeface="Aptos" panose="020B0004020202020204" pitchFamily="34" charset="0"/>
              </a:rPr>
              <a:t>Ideias aparecem durante o trabalho e são registradas onde for mais rápido.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195961E-D1E4-E554-6D23-3D101A205CFE}"/>
              </a:ext>
            </a:extLst>
          </p:cNvPr>
          <p:cNvSpPr txBox="1"/>
          <p:nvPr/>
        </p:nvSpPr>
        <p:spPr>
          <a:xfrm>
            <a:off x="914400" y="48895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b="1">
                <a:solidFill>
                  <a:srgbClr val="4B5563"/>
                </a:solidFill>
                <a:latin typeface="Aptos" panose="020B0004020202020204" pitchFamily="34" charset="0"/>
              </a:rPr>
              <a:t>nota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FDEA155E-0111-D475-AC82-4167A1A6A6B8}"/>
              </a:ext>
            </a:extLst>
          </p:cNvPr>
          <p:cNvCxnSpPr/>
          <p:nvPr/>
        </p:nvCxnSpPr>
        <p:spPr>
          <a:xfrm>
            <a:off x="4470400" y="2743200"/>
            <a:ext cx="2667000" cy="0"/>
          </a:xfrm>
          <a:prstGeom prst="line">
            <a:avLst/>
          </a:prstGeom>
          <a:ln w="38100">
            <a:solidFill>
              <a:srgbClr val="2F80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CA6857B-11A3-772F-935E-7EAD3E7C859B}"/>
              </a:ext>
            </a:extLst>
          </p:cNvPr>
          <p:cNvSpPr txBox="1"/>
          <p:nvPr/>
        </p:nvSpPr>
        <p:spPr>
          <a:xfrm>
            <a:off x="4470400" y="2946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2F80ED"/>
                </a:solidFill>
                <a:latin typeface="Aptos" panose="020B0004020202020204" pitchFamily="34" charset="0"/>
              </a:rPr>
              <a:t>EXECUÇÃO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619597A-B50A-22B3-6D07-96577F7E4BB6}"/>
              </a:ext>
            </a:extLst>
          </p:cNvPr>
          <p:cNvSpPr txBox="1"/>
          <p:nvPr/>
        </p:nvSpPr>
        <p:spPr>
          <a:xfrm>
            <a:off x="4470400" y="33782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111827"/>
                </a:solidFill>
                <a:latin typeface="Aptos" panose="020B0004020202020204" pitchFamily="34" charset="0"/>
              </a:rPr>
              <a:t>A ideia precisa ser reescrita como tarefa, prioridade, prazo e status.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1681F6F-486F-A38A-D928-DB9183ECA4FA}"/>
              </a:ext>
            </a:extLst>
          </p:cNvPr>
          <p:cNvSpPr txBox="1"/>
          <p:nvPr/>
        </p:nvSpPr>
        <p:spPr>
          <a:xfrm>
            <a:off x="4470400" y="48895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b="1">
                <a:solidFill>
                  <a:srgbClr val="4B5563"/>
                </a:solidFill>
                <a:latin typeface="Aptos" panose="020B0004020202020204" pitchFamily="34" charset="0"/>
              </a:rPr>
              <a:t>Kanban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0E1F296-FAA2-CA35-3D6F-95C2383C0F91}"/>
              </a:ext>
            </a:extLst>
          </p:cNvPr>
          <p:cNvCxnSpPr/>
          <p:nvPr/>
        </p:nvCxnSpPr>
        <p:spPr>
          <a:xfrm>
            <a:off x="8026400" y="2743200"/>
            <a:ext cx="2667000" cy="0"/>
          </a:xfrm>
          <a:prstGeom prst="line">
            <a:avLst/>
          </a:prstGeom>
          <a:ln w="38100">
            <a:solidFill>
              <a:srgbClr val="2F80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7E56A05-2668-FF31-128A-C560620667BB}"/>
              </a:ext>
            </a:extLst>
          </p:cNvPr>
          <p:cNvSpPr txBox="1"/>
          <p:nvPr/>
        </p:nvSpPr>
        <p:spPr>
          <a:xfrm>
            <a:off x="8026400" y="2946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2F80ED"/>
                </a:solidFill>
                <a:latin typeface="Aptos" panose="020B0004020202020204" pitchFamily="34" charset="0"/>
              </a:rPr>
              <a:t>DIREÇÃO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E44501-DF6A-B177-C1E5-CD99E8C5DE3F}"/>
              </a:ext>
            </a:extLst>
          </p:cNvPr>
          <p:cNvSpPr txBox="1"/>
          <p:nvPr/>
        </p:nvSpPr>
        <p:spPr>
          <a:xfrm>
            <a:off x="8026400" y="33782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111827"/>
                </a:solidFill>
                <a:latin typeface="Aptos" panose="020B0004020202020204" pitchFamily="34" charset="0"/>
              </a:rPr>
              <a:t>O roadmap é atualizado em outro momento, muitas vezes manualmente.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F103EEF-B24C-D7C3-BA5F-E4F7A353A889}"/>
              </a:ext>
            </a:extLst>
          </p:cNvPr>
          <p:cNvSpPr txBox="1"/>
          <p:nvPr/>
        </p:nvSpPr>
        <p:spPr>
          <a:xfrm>
            <a:off x="8026400" y="48895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b="1">
                <a:solidFill>
                  <a:srgbClr val="4B5563"/>
                </a:solidFill>
                <a:latin typeface="Aptos" panose="020B0004020202020204" pitchFamily="34" charset="0"/>
              </a:rPr>
              <a:t>roadmap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3CED42C-22DE-B3DC-CDDA-D45491A2A0D9}"/>
              </a:ext>
            </a:extLst>
          </p:cNvPr>
          <p:cNvSpPr/>
          <p:nvPr/>
        </p:nvSpPr>
        <p:spPr>
          <a:xfrm>
            <a:off x="914400" y="5588000"/>
            <a:ext cx="9779000" cy="457200"/>
          </a:xfrm>
          <a:prstGeom prst="rect">
            <a:avLst/>
          </a:prstGeom>
          <a:solidFill>
            <a:srgbClr val="E0F3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2F68166-3812-DAAC-5AD8-FCD49713FAD4}"/>
              </a:ext>
            </a:extLst>
          </p:cNvPr>
          <p:cNvSpPr txBox="1"/>
          <p:nvPr/>
        </p:nvSpPr>
        <p:spPr>
          <a:xfrm>
            <a:off x="1168400" y="5715000"/>
            <a:ext cx="927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b="1">
                <a:solidFill>
                  <a:srgbClr val="111827"/>
                </a:solidFill>
                <a:latin typeface="Aptos" panose="020B0004020202020204" pitchFamily="34" charset="0"/>
              </a:rPr>
              <a:t>Oportunidade: unificar captura de ideias, organização de tarefas, visão de roadmap e assistência de IA.</a:t>
            </a:r>
          </a:p>
        </p:txBody>
      </p:sp>
    </p:spTree>
    <p:extLst>
      <p:ext uri="{BB962C8B-B14F-4D97-AF65-F5344CB8AC3E}">
        <p14:creationId xmlns:p14="http://schemas.microsoft.com/office/powerpoint/2010/main" val="209003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77441A0-6968-CA2C-3B77-6F282547EE7B}"/>
              </a:ext>
            </a:extLst>
          </p:cNvPr>
          <p:cNvSpPr txBox="1"/>
          <p:nvPr/>
        </p:nvSpPr>
        <p:spPr>
          <a:xfrm>
            <a:off x="914400" y="533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USUÁRIO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60FCE5C-DC3B-A541-907F-B6ABD861B2C1}"/>
              </a:ext>
            </a:extLst>
          </p:cNvPr>
          <p:cNvSpPr txBox="1"/>
          <p:nvPr/>
        </p:nvSpPr>
        <p:spPr>
          <a:xfrm>
            <a:off x="914400" y="952500"/>
            <a:ext cx="1036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11827"/>
                </a:solidFill>
                <a:latin typeface="Aptos" panose="020B0004020202020204" pitchFamily="34" charset="0"/>
              </a:rPr>
              <a:t>Alex Dev precisa de um próximo passo claro.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246026F1-A1BB-12BA-3791-178592CC5F67}"/>
              </a:ext>
            </a:extLst>
          </p:cNvPr>
          <p:cNvCxnSpPr/>
          <p:nvPr/>
        </p:nvCxnSpPr>
        <p:spPr>
          <a:xfrm>
            <a:off x="914400" y="6413500"/>
            <a:ext cx="103632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5C17E907-6527-DEB4-9E2C-93398D3259E0}"/>
              </a:ext>
            </a:extLst>
          </p:cNvPr>
          <p:cNvSpPr txBox="1"/>
          <p:nvPr/>
        </p:nvSpPr>
        <p:spPr>
          <a:xfrm>
            <a:off x="914400" y="6527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 b="1">
                <a:solidFill>
                  <a:srgbClr val="4B5563"/>
                </a:solidFill>
                <a:latin typeface="Aptos" panose="020B0004020202020204" pitchFamily="34" charset="0"/>
              </a:rPr>
              <a:t>ORGANIZADOR PARA PROGRAMADORES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1E21244-6E31-BE98-8ACB-814238EA5CCE}"/>
              </a:ext>
            </a:extLst>
          </p:cNvPr>
          <p:cNvSpPr txBox="1"/>
          <p:nvPr/>
        </p:nvSpPr>
        <p:spPr>
          <a:xfrm>
            <a:off x="10414000" y="6527800"/>
            <a:ext cx="86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4B5563"/>
                </a:solidFill>
                <a:latin typeface="Aptos" panose="020B0004020202020204" pitchFamily="34" charset="0"/>
              </a:rPr>
              <a:t>04 / 10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DABDE64-23B1-E583-AEE2-D0B97A6C6216}"/>
              </a:ext>
            </a:extLst>
          </p:cNvPr>
          <p:cNvSpPr/>
          <p:nvPr/>
        </p:nvSpPr>
        <p:spPr>
          <a:xfrm>
            <a:off x="914400" y="2032000"/>
            <a:ext cx="3048000" cy="342900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0673582-F77A-10A1-68FE-99C99475EC57}"/>
              </a:ext>
            </a:extLst>
          </p:cNvPr>
          <p:cNvSpPr/>
          <p:nvPr/>
        </p:nvSpPr>
        <p:spPr>
          <a:xfrm>
            <a:off x="1739900" y="2413000"/>
            <a:ext cx="1397000" cy="1397000"/>
          </a:xfrm>
          <a:prstGeom prst="roundRect">
            <a:avLst/>
          </a:prstGeom>
          <a:solidFill>
            <a:srgbClr val="2F80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21D98CD-F8E9-1C04-678C-BBCFAC99DBFC}"/>
              </a:ext>
            </a:extLst>
          </p:cNvPr>
          <p:cNvSpPr txBox="1"/>
          <p:nvPr/>
        </p:nvSpPr>
        <p:spPr>
          <a:xfrm>
            <a:off x="1739900" y="28575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2800" b="1">
                <a:solidFill>
                  <a:srgbClr val="FFFFFF"/>
                </a:solidFill>
                <a:latin typeface="Aptos" panose="020B0004020202020204" pitchFamily="34" charset="0"/>
              </a:rPr>
              <a:t>AD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1F52C7A-0A76-2C46-04D7-9D2CAF016296}"/>
              </a:ext>
            </a:extLst>
          </p:cNvPr>
          <p:cNvSpPr txBox="1"/>
          <p:nvPr/>
        </p:nvSpPr>
        <p:spPr>
          <a:xfrm>
            <a:off x="1295400" y="4064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2200" b="1">
                <a:solidFill>
                  <a:srgbClr val="111827"/>
                </a:solidFill>
                <a:latin typeface="Aptos" panose="020B0004020202020204" pitchFamily="34" charset="0"/>
              </a:rPr>
              <a:t>Alex Dev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0A37162-35EA-00DD-79B6-2510AB536C27}"/>
              </a:ext>
            </a:extLst>
          </p:cNvPr>
          <p:cNvSpPr txBox="1"/>
          <p:nvPr/>
        </p:nvSpPr>
        <p:spPr>
          <a:xfrm>
            <a:off x="1295400" y="4495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>
                <a:solidFill>
                  <a:srgbClr val="4B5563"/>
                </a:solidFill>
                <a:latin typeface="Aptos" panose="020B0004020202020204" pitchFamily="34" charset="0"/>
              </a:rPr>
              <a:t>programador solo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1F62CED-8A89-E0A9-F5B9-B8563C8B2E30}"/>
              </a:ext>
            </a:extLst>
          </p:cNvPr>
          <p:cNvSpPr txBox="1"/>
          <p:nvPr/>
        </p:nvSpPr>
        <p:spPr>
          <a:xfrm>
            <a:off x="1295400" y="50165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C45546"/>
                </a:solidFill>
                <a:latin typeface="Aptos" panose="020B0004020202020204" pitchFamily="34" charset="0"/>
              </a:rPr>
              <a:t>HIPÓTESE A VALIDAR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1993421-CD79-EA54-9787-A7627B58443F}"/>
              </a:ext>
            </a:extLst>
          </p:cNvPr>
          <p:cNvSpPr txBox="1"/>
          <p:nvPr/>
        </p:nvSpPr>
        <p:spPr>
          <a:xfrm>
            <a:off x="4572000" y="20955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200" b="1">
                <a:solidFill>
                  <a:srgbClr val="111827"/>
                </a:solidFill>
                <a:latin typeface="Aptos" panose="020B0004020202020204" pitchFamily="34" charset="0"/>
              </a:rPr>
              <a:t>Trabalha sozinho ou em equipe pequena e cuida de ideia, tarefa e planejamento.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B47BD6E-EC2A-E92B-AF58-1ED0FFE586D5}"/>
              </a:ext>
            </a:extLst>
          </p:cNvPr>
          <p:cNvSpPr txBox="1"/>
          <p:nvPr/>
        </p:nvSpPr>
        <p:spPr>
          <a:xfrm>
            <a:off x="4572000" y="3111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 b="1">
                <a:solidFill>
                  <a:srgbClr val="2F80ED"/>
                </a:solidFill>
                <a:latin typeface="Aptos" panose="020B0004020202020204" pitchFamily="34" charset="0"/>
              </a:rPr>
              <a:t>O que ele quer fazer melhor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2D1FB32-B84B-F086-0C55-451102679041}"/>
              </a:ext>
            </a:extLst>
          </p:cNvPr>
          <p:cNvSpPr txBox="1"/>
          <p:nvPr/>
        </p:nvSpPr>
        <p:spPr>
          <a:xfrm>
            <a:off x="4572000" y="3530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4B5563"/>
                </a:solidFill>
                <a:latin typeface="Aptos" panose="020B0004020202020204" pitchFamily="34" charset="0"/>
              </a:rPr>
              <a:t>• registrar ideias rapidamente
• transformar ideia em tarefa
• definir prioridade e status
• visualizar próximos objetivos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0103C44-39BA-3D1E-1B6D-EC0A98BCA055}"/>
              </a:ext>
            </a:extLst>
          </p:cNvPr>
          <p:cNvSpPr txBox="1"/>
          <p:nvPr/>
        </p:nvSpPr>
        <p:spPr>
          <a:xfrm>
            <a:off x="8255000" y="3111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 b="1">
                <a:solidFill>
                  <a:srgbClr val="2F80ED"/>
                </a:solidFill>
                <a:latin typeface="Aptos" panose="020B0004020202020204" pitchFamily="34" charset="0"/>
              </a:rPr>
              <a:t>O que hoje atrapalha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9EB91AB-6629-469E-83E6-94364EEFA0CB}"/>
              </a:ext>
            </a:extLst>
          </p:cNvPr>
          <p:cNvSpPr txBox="1"/>
          <p:nvPr/>
        </p:nvSpPr>
        <p:spPr>
          <a:xfrm>
            <a:off x="8255000" y="35306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4B5563"/>
                </a:solidFill>
                <a:latin typeface="Aptos" panose="020B0004020202020204" pitchFamily="34" charset="0"/>
              </a:rPr>
              <a:t>• ferramentas diferentes
• ideias esquecidas
• prioridades desatualizadas
• tempo perdido sincronizando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F16E192-0B79-D62A-BA39-3548BA9BAAD4}"/>
              </a:ext>
            </a:extLst>
          </p:cNvPr>
          <p:cNvSpPr txBox="1"/>
          <p:nvPr/>
        </p:nvSpPr>
        <p:spPr>
          <a:xfrm>
            <a:off x="4572000" y="53975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b="1">
                <a:solidFill>
                  <a:srgbClr val="111827"/>
                </a:solidFill>
                <a:latin typeface="Aptos" panose="020B0004020202020204" pitchFamily="34" charset="0"/>
              </a:rPr>
              <a:t>A persona nasceu de uma necessidade real do criador; entrevistas com 3 a 5 programadores devem testar se o problema se repete.</a:t>
            </a:r>
          </a:p>
        </p:txBody>
      </p:sp>
    </p:spTree>
    <p:extLst>
      <p:ext uri="{BB962C8B-B14F-4D97-AF65-F5344CB8AC3E}">
        <p14:creationId xmlns:p14="http://schemas.microsoft.com/office/powerpoint/2010/main" val="2242010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E840380-61D6-6E52-A19A-6A4A81EA0B3A}"/>
              </a:ext>
            </a:extLst>
          </p:cNvPr>
          <p:cNvSpPr txBox="1"/>
          <p:nvPr/>
        </p:nvSpPr>
        <p:spPr>
          <a:xfrm>
            <a:off x="914400" y="533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SOLUÇÃO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23D537-B6BA-5868-6356-24D1E16E929C}"/>
              </a:ext>
            </a:extLst>
          </p:cNvPr>
          <p:cNvSpPr txBox="1"/>
          <p:nvPr/>
        </p:nvSpPr>
        <p:spPr>
          <a:xfrm>
            <a:off x="914400" y="952500"/>
            <a:ext cx="1036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11827"/>
                </a:solidFill>
                <a:latin typeface="Aptos" panose="020B0004020202020204" pitchFamily="34" charset="0"/>
              </a:rPr>
              <a:t>Uma única experiência conecta nota, tarefa e objetivo.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251E4123-E0CA-EDD3-5D6E-A0CFB763E527}"/>
              </a:ext>
            </a:extLst>
          </p:cNvPr>
          <p:cNvCxnSpPr/>
          <p:nvPr/>
        </p:nvCxnSpPr>
        <p:spPr>
          <a:xfrm>
            <a:off x="914400" y="6413500"/>
            <a:ext cx="103632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68EC39-E913-CC4A-4A96-528930D309EE}"/>
              </a:ext>
            </a:extLst>
          </p:cNvPr>
          <p:cNvSpPr txBox="1"/>
          <p:nvPr/>
        </p:nvSpPr>
        <p:spPr>
          <a:xfrm>
            <a:off x="914400" y="6527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 b="1">
                <a:solidFill>
                  <a:srgbClr val="4B5563"/>
                </a:solidFill>
                <a:latin typeface="Aptos" panose="020B0004020202020204" pitchFamily="34" charset="0"/>
              </a:rPr>
              <a:t>ORGANIZADOR PARA PROGRAMADORES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884377-6874-FAB5-911C-4B033C0B16CE}"/>
              </a:ext>
            </a:extLst>
          </p:cNvPr>
          <p:cNvSpPr txBox="1"/>
          <p:nvPr/>
        </p:nvSpPr>
        <p:spPr>
          <a:xfrm>
            <a:off x="10414000" y="6527800"/>
            <a:ext cx="86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4B5563"/>
                </a:solidFill>
                <a:latin typeface="Aptos" panose="020B0004020202020204" pitchFamily="34" charset="0"/>
              </a:rPr>
              <a:t>05 / 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99C3A85-CEFC-A0CB-1FFA-88CF877B0DB2}"/>
              </a:ext>
            </a:extLst>
          </p:cNvPr>
          <p:cNvSpPr txBox="1"/>
          <p:nvPr/>
        </p:nvSpPr>
        <p:spPr>
          <a:xfrm>
            <a:off x="914400" y="19685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>
                <a:solidFill>
                  <a:srgbClr val="4B5563"/>
                </a:solidFill>
                <a:latin typeface="Aptos" panose="020B0004020202020204" pitchFamily="34" charset="0"/>
              </a:rPr>
              <a:t>O produto combina quatro capacidades em torno do mesmo projeto.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2B2DCD1-F439-71B1-5279-402E88FB3F75}"/>
              </a:ext>
            </a:extLst>
          </p:cNvPr>
          <p:cNvSpPr/>
          <p:nvPr/>
        </p:nvSpPr>
        <p:spPr>
          <a:xfrm>
            <a:off x="914400" y="2794000"/>
            <a:ext cx="2476500" cy="190500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4D5588C-D2FD-D18C-98EA-2436FA17C836}"/>
              </a:ext>
            </a:extLst>
          </p:cNvPr>
          <p:cNvSpPr txBox="1"/>
          <p:nvPr/>
        </p:nvSpPr>
        <p:spPr>
          <a:xfrm>
            <a:off x="1168400" y="3175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b="1">
                <a:solidFill>
                  <a:srgbClr val="2F80ED"/>
                </a:solidFill>
                <a:latin typeface="Aptos" panose="020B0004020202020204" pitchFamily="34" charset="0"/>
              </a:rPr>
              <a:t>ANOTAÇÕES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4623E5E-29E4-3733-615E-0662D048F544}"/>
              </a:ext>
            </a:extLst>
          </p:cNvPr>
          <p:cNvSpPr txBox="1"/>
          <p:nvPr/>
        </p:nvSpPr>
        <p:spPr>
          <a:xfrm>
            <a:off x="1168400" y="37084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11827"/>
                </a:solidFill>
                <a:latin typeface="Aptos" panose="020B0004020202020204" pitchFamily="34" charset="0"/>
              </a:rPr>
              <a:t>capturar e pesquisar ideias por projeto ou etiqueta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BCB2422-C1DB-C957-E2C4-5BEE6E7E44CE}"/>
              </a:ext>
            </a:extLst>
          </p:cNvPr>
          <p:cNvSpPr/>
          <p:nvPr/>
        </p:nvSpPr>
        <p:spPr>
          <a:xfrm>
            <a:off x="3644900" y="2794000"/>
            <a:ext cx="2476500" cy="190500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482A3CF-F0E3-44BA-5927-DAFE560F4410}"/>
              </a:ext>
            </a:extLst>
          </p:cNvPr>
          <p:cNvSpPr txBox="1"/>
          <p:nvPr/>
        </p:nvSpPr>
        <p:spPr>
          <a:xfrm>
            <a:off x="3898900" y="3175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b="1">
                <a:solidFill>
                  <a:srgbClr val="2F80ED"/>
                </a:solidFill>
                <a:latin typeface="Aptos" panose="020B0004020202020204" pitchFamily="34" charset="0"/>
              </a:rPr>
              <a:t>KANBAN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0467F04-0C0F-0F65-0F2E-84DDE1EE0492}"/>
              </a:ext>
            </a:extLst>
          </p:cNvPr>
          <p:cNvSpPr txBox="1"/>
          <p:nvPr/>
        </p:nvSpPr>
        <p:spPr>
          <a:xfrm>
            <a:off x="3898900" y="37084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11827"/>
                </a:solidFill>
                <a:latin typeface="Aptos" panose="020B0004020202020204" pitchFamily="34" charset="0"/>
              </a:rPr>
              <a:t>criar, priorizar e mover tarefas entre colunas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B43F3C2-9544-6560-6BEC-9A7E643A96B1}"/>
              </a:ext>
            </a:extLst>
          </p:cNvPr>
          <p:cNvSpPr/>
          <p:nvPr/>
        </p:nvSpPr>
        <p:spPr>
          <a:xfrm>
            <a:off x="6375400" y="2794000"/>
            <a:ext cx="2476500" cy="190500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32C2A4B-00D0-EC65-DE15-6F320BDECB80}"/>
              </a:ext>
            </a:extLst>
          </p:cNvPr>
          <p:cNvSpPr txBox="1"/>
          <p:nvPr/>
        </p:nvSpPr>
        <p:spPr>
          <a:xfrm>
            <a:off x="6629400" y="3175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b="1">
                <a:solidFill>
                  <a:srgbClr val="2F80ED"/>
                </a:solidFill>
                <a:latin typeface="Aptos" panose="020B0004020202020204" pitchFamily="34" charset="0"/>
              </a:rPr>
              <a:t>ROADMAP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3033545-6992-6A07-BA4B-BBC584377C41}"/>
              </a:ext>
            </a:extLst>
          </p:cNvPr>
          <p:cNvSpPr txBox="1"/>
          <p:nvPr/>
        </p:nvSpPr>
        <p:spPr>
          <a:xfrm>
            <a:off x="6629400" y="37084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11827"/>
                </a:solidFill>
                <a:latin typeface="Aptos" panose="020B0004020202020204" pitchFamily="34" charset="0"/>
              </a:rPr>
              <a:t>acompanhar objetivos, marcos e progresso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FF451AB-26FF-C371-79A7-46BA241D861F}"/>
              </a:ext>
            </a:extLst>
          </p:cNvPr>
          <p:cNvSpPr/>
          <p:nvPr/>
        </p:nvSpPr>
        <p:spPr>
          <a:xfrm>
            <a:off x="9105900" y="2794000"/>
            <a:ext cx="2476500" cy="190500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ADCF8F2-85EB-34A7-84E8-C5C3C67F005B}"/>
              </a:ext>
            </a:extLst>
          </p:cNvPr>
          <p:cNvSpPr txBox="1"/>
          <p:nvPr/>
        </p:nvSpPr>
        <p:spPr>
          <a:xfrm>
            <a:off x="9359900" y="3175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b="1">
                <a:solidFill>
                  <a:srgbClr val="2F80ED"/>
                </a:solidFill>
                <a:latin typeface="Aptos" panose="020B0004020202020204" pitchFamily="34" charset="0"/>
              </a:rPr>
              <a:t>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73C205B-8AF5-2F7F-2237-DE0BD56085D9}"/>
              </a:ext>
            </a:extLst>
          </p:cNvPr>
          <p:cNvSpPr txBox="1"/>
          <p:nvPr/>
        </p:nvSpPr>
        <p:spPr>
          <a:xfrm>
            <a:off x="9359900" y="37084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11827"/>
                </a:solidFill>
                <a:latin typeface="Aptos" panose="020B0004020202020204" pitchFamily="34" charset="0"/>
              </a:rPr>
              <a:t>sugerir estrutura, próximos passos e agrupamentos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9F5EA1D-BF9E-193A-F430-7D975EB6C1D8}"/>
              </a:ext>
            </a:extLst>
          </p:cNvPr>
          <p:cNvCxnSpPr/>
          <p:nvPr/>
        </p:nvCxnSpPr>
        <p:spPr>
          <a:xfrm>
            <a:off x="914400" y="5130800"/>
            <a:ext cx="9969500" cy="0"/>
          </a:xfrm>
          <a:prstGeom prst="line">
            <a:avLst/>
          </a:prstGeom>
          <a:ln w="25400">
            <a:solidFill>
              <a:srgbClr val="2F80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C7C4CCA-DE4F-434B-F8A9-AFB21C5A1771}"/>
              </a:ext>
            </a:extLst>
          </p:cNvPr>
          <p:cNvSpPr txBox="1"/>
          <p:nvPr/>
        </p:nvSpPr>
        <p:spPr>
          <a:xfrm>
            <a:off x="914400" y="5384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b="1">
                <a:solidFill>
                  <a:srgbClr val="2F80ED"/>
                </a:solidFill>
                <a:latin typeface="Aptos" panose="020B0004020202020204" pitchFamily="34" charset="0"/>
              </a:rPr>
              <a:t>Princípio de confiança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6C76B8A-1FB9-2D2C-801B-02079FC2C15B}"/>
              </a:ext>
            </a:extLst>
          </p:cNvPr>
          <p:cNvSpPr txBox="1"/>
          <p:nvPr/>
        </p:nvSpPr>
        <p:spPr>
          <a:xfrm>
            <a:off x="3429000" y="5384800"/>
            <a:ext cx="742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111827"/>
                </a:solidFill>
                <a:latin typeface="Aptos" panose="020B0004020202020204" pitchFamily="34" charset="0"/>
              </a:rPr>
              <a:t>A IA pode propor. O usuário revisa e confirma antes de qualquer alteração no planejamento.</a:t>
            </a:r>
          </a:p>
        </p:txBody>
      </p:sp>
    </p:spTree>
    <p:extLst>
      <p:ext uri="{BB962C8B-B14F-4D97-AF65-F5344CB8AC3E}">
        <p14:creationId xmlns:p14="http://schemas.microsoft.com/office/powerpoint/2010/main" val="3711740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A1E5017-8F31-1848-F739-9CB69063D54B}"/>
              </a:ext>
            </a:extLst>
          </p:cNvPr>
          <p:cNvSpPr txBox="1"/>
          <p:nvPr/>
        </p:nvSpPr>
        <p:spPr>
          <a:xfrm>
            <a:off x="914400" y="533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FLUXO PRINCIPAL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5D0042-2DF2-C6E3-D702-1C50F0492BA5}"/>
              </a:ext>
            </a:extLst>
          </p:cNvPr>
          <p:cNvSpPr txBox="1"/>
          <p:nvPr/>
        </p:nvSpPr>
        <p:spPr>
          <a:xfrm>
            <a:off x="914400" y="952500"/>
            <a:ext cx="1036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11827"/>
                </a:solidFill>
                <a:latin typeface="Aptos" panose="020B0004020202020204" pitchFamily="34" charset="0"/>
              </a:rPr>
              <a:t>A IA propõe; o usuário decide.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B26DF8C-8010-6B17-16BF-EDE6EC85797C}"/>
              </a:ext>
            </a:extLst>
          </p:cNvPr>
          <p:cNvCxnSpPr/>
          <p:nvPr/>
        </p:nvCxnSpPr>
        <p:spPr>
          <a:xfrm>
            <a:off x="914400" y="6413500"/>
            <a:ext cx="103632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2C60D2-45EA-DF11-3163-EAF100622352}"/>
              </a:ext>
            </a:extLst>
          </p:cNvPr>
          <p:cNvSpPr txBox="1"/>
          <p:nvPr/>
        </p:nvSpPr>
        <p:spPr>
          <a:xfrm>
            <a:off x="914400" y="6527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 b="1">
                <a:solidFill>
                  <a:srgbClr val="4B5563"/>
                </a:solidFill>
                <a:latin typeface="Aptos" panose="020B0004020202020204" pitchFamily="34" charset="0"/>
              </a:rPr>
              <a:t>ORGANIZADOR PARA PROGRAMADORES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D4A0EC2-7491-14FA-2C2D-925AC7DCF3BA}"/>
              </a:ext>
            </a:extLst>
          </p:cNvPr>
          <p:cNvSpPr txBox="1"/>
          <p:nvPr/>
        </p:nvSpPr>
        <p:spPr>
          <a:xfrm>
            <a:off x="10414000" y="6527800"/>
            <a:ext cx="86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4B5563"/>
                </a:solidFill>
                <a:latin typeface="Aptos" panose="020B0004020202020204" pitchFamily="34" charset="0"/>
              </a:rPr>
              <a:t>06 / 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48ECF7F-511C-441B-310B-AA493F9B8B3D}"/>
              </a:ext>
            </a:extLst>
          </p:cNvPr>
          <p:cNvSpPr txBox="1"/>
          <p:nvPr/>
        </p:nvSpPr>
        <p:spPr>
          <a:xfrm>
            <a:off x="914400" y="1955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>
                <a:solidFill>
                  <a:srgbClr val="4B5563"/>
                </a:solidFill>
                <a:latin typeface="Aptos" panose="020B0004020202020204" pitchFamily="34" charset="0"/>
              </a:rPr>
              <a:t>Linguagem natural vira plano executável sem perder controle.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65328CDF-A217-3A1E-1432-DB7DED6F95E7}"/>
              </a:ext>
            </a:extLst>
          </p:cNvPr>
          <p:cNvCxnSpPr/>
          <p:nvPr/>
        </p:nvCxnSpPr>
        <p:spPr>
          <a:xfrm>
            <a:off x="2336800" y="3479800"/>
            <a:ext cx="787400" cy="0"/>
          </a:xfrm>
          <a:prstGeom prst="line">
            <a:avLst/>
          </a:prstGeom>
          <a:ln w="25400">
            <a:solidFill>
              <a:srgbClr val="2F80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7218F75-617E-904E-0FD8-A8072FC018D1}"/>
              </a:ext>
            </a:extLst>
          </p:cNvPr>
          <p:cNvCxnSpPr/>
          <p:nvPr/>
        </p:nvCxnSpPr>
        <p:spPr>
          <a:xfrm>
            <a:off x="4495800" y="3479800"/>
            <a:ext cx="787400" cy="0"/>
          </a:xfrm>
          <a:prstGeom prst="line">
            <a:avLst/>
          </a:prstGeom>
          <a:ln w="25400">
            <a:solidFill>
              <a:srgbClr val="2F80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9174A80-82F5-5132-374A-E320595EAE71}"/>
              </a:ext>
            </a:extLst>
          </p:cNvPr>
          <p:cNvCxnSpPr/>
          <p:nvPr/>
        </p:nvCxnSpPr>
        <p:spPr>
          <a:xfrm>
            <a:off x="6654800" y="3479800"/>
            <a:ext cx="787400" cy="0"/>
          </a:xfrm>
          <a:prstGeom prst="line">
            <a:avLst/>
          </a:prstGeom>
          <a:ln w="25400">
            <a:solidFill>
              <a:srgbClr val="2F80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CEAF952-76B6-0593-DFC3-9D7CCD4215DE}"/>
              </a:ext>
            </a:extLst>
          </p:cNvPr>
          <p:cNvCxnSpPr/>
          <p:nvPr/>
        </p:nvCxnSpPr>
        <p:spPr>
          <a:xfrm>
            <a:off x="8813800" y="3479800"/>
            <a:ext cx="787400" cy="0"/>
          </a:xfrm>
          <a:prstGeom prst="line">
            <a:avLst/>
          </a:prstGeom>
          <a:ln w="25400">
            <a:solidFill>
              <a:srgbClr val="2F80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C9DBA7B-2441-44A8-6F3C-EBB9DEF19059}"/>
              </a:ext>
            </a:extLst>
          </p:cNvPr>
          <p:cNvSpPr/>
          <p:nvPr/>
        </p:nvSpPr>
        <p:spPr>
          <a:xfrm>
            <a:off x="965200" y="2730500"/>
            <a:ext cx="1371600" cy="1498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537424D-CFFC-885C-9FD7-FD7BCE4D64F2}"/>
              </a:ext>
            </a:extLst>
          </p:cNvPr>
          <p:cNvSpPr txBox="1"/>
          <p:nvPr/>
        </p:nvSpPr>
        <p:spPr>
          <a:xfrm>
            <a:off x="1117600" y="2908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DD59BB1-195D-8708-C901-DE5FD75B757A}"/>
              </a:ext>
            </a:extLst>
          </p:cNvPr>
          <p:cNvSpPr txBox="1"/>
          <p:nvPr/>
        </p:nvSpPr>
        <p:spPr>
          <a:xfrm>
            <a:off x="1092200" y="3200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700" b="1">
                <a:solidFill>
                  <a:srgbClr val="111827"/>
                </a:solidFill>
                <a:latin typeface="Aptos" panose="020B0004020202020204" pitchFamily="34" charset="0"/>
              </a:rPr>
              <a:t>Escreve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CB755CE-D885-1860-AC13-4C906F2052AD}"/>
              </a:ext>
            </a:extLst>
          </p:cNvPr>
          <p:cNvSpPr txBox="1"/>
          <p:nvPr/>
        </p:nvSpPr>
        <p:spPr>
          <a:xfrm>
            <a:off x="1092200" y="3581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300">
                <a:solidFill>
                  <a:srgbClr val="4B5563"/>
                </a:solidFill>
                <a:latin typeface="Aptos" panose="020B0004020202020204" pitchFamily="34" charset="0"/>
              </a:rPr>
              <a:t>uma ideia em texto livre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656F939-1E9F-F799-4662-F390F5174538}"/>
              </a:ext>
            </a:extLst>
          </p:cNvPr>
          <p:cNvSpPr/>
          <p:nvPr/>
        </p:nvSpPr>
        <p:spPr>
          <a:xfrm>
            <a:off x="3124200" y="2730500"/>
            <a:ext cx="1371600" cy="1498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7F82064-C0EB-855E-AE4E-1DF2F3E8FF75}"/>
              </a:ext>
            </a:extLst>
          </p:cNvPr>
          <p:cNvSpPr txBox="1"/>
          <p:nvPr/>
        </p:nvSpPr>
        <p:spPr>
          <a:xfrm>
            <a:off x="3276600" y="2908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C2DA1B4-6F91-11E3-76E2-F6A656319159}"/>
              </a:ext>
            </a:extLst>
          </p:cNvPr>
          <p:cNvSpPr txBox="1"/>
          <p:nvPr/>
        </p:nvSpPr>
        <p:spPr>
          <a:xfrm>
            <a:off x="3251200" y="3200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700" b="1">
                <a:solidFill>
                  <a:srgbClr val="111827"/>
                </a:solidFill>
                <a:latin typeface="Aptos" panose="020B0004020202020204" pitchFamily="34" charset="0"/>
              </a:rPr>
              <a:t>Recebe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B606AED-830E-BFDA-C7C8-AAB7CE1D8B57}"/>
              </a:ext>
            </a:extLst>
          </p:cNvPr>
          <p:cNvSpPr txBox="1"/>
          <p:nvPr/>
        </p:nvSpPr>
        <p:spPr>
          <a:xfrm>
            <a:off x="3251200" y="3581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300">
                <a:solidFill>
                  <a:srgbClr val="4B5563"/>
                </a:solidFill>
                <a:latin typeface="Aptos" panose="020B0004020202020204" pitchFamily="34" charset="0"/>
              </a:rPr>
              <a:t>sugestões de tarefas e objetivo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C8B7E51-E42F-78B8-A316-DD8269B02822}"/>
              </a:ext>
            </a:extLst>
          </p:cNvPr>
          <p:cNvSpPr/>
          <p:nvPr/>
        </p:nvSpPr>
        <p:spPr>
          <a:xfrm>
            <a:off x="5283200" y="2730500"/>
            <a:ext cx="1371600" cy="1498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381E596-ECD6-5B63-EF6D-95711DAB4D7E}"/>
              </a:ext>
            </a:extLst>
          </p:cNvPr>
          <p:cNvSpPr txBox="1"/>
          <p:nvPr/>
        </p:nvSpPr>
        <p:spPr>
          <a:xfrm>
            <a:off x="5435600" y="2908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AF88362-345E-DF1D-103C-AD086E5ED992}"/>
              </a:ext>
            </a:extLst>
          </p:cNvPr>
          <p:cNvSpPr txBox="1"/>
          <p:nvPr/>
        </p:nvSpPr>
        <p:spPr>
          <a:xfrm>
            <a:off x="5410200" y="3200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700" b="1">
                <a:solidFill>
                  <a:srgbClr val="111827"/>
                </a:solidFill>
                <a:latin typeface="Aptos" panose="020B0004020202020204" pitchFamily="34" charset="0"/>
              </a:rPr>
              <a:t>Revisa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B8392A9-105E-CEB3-F9CD-1B9F9B1E34C2}"/>
              </a:ext>
            </a:extLst>
          </p:cNvPr>
          <p:cNvSpPr txBox="1"/>
          <p:nvPr/>
        </p:nvSpPr>
        <p:spPr>
          <a:xfrm>
            <a:off x="5410200" y="3581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300">
                <a:solidFill>
                  <a:srgbClr val="4B5563"/>
                </a:solidFill>
                <a:latin typeface="Aptos" panose="020B0004020202020204" pitchFamily="34" charset="0"/>
              </a:rPr>
              <a:t>edita, rejeita ou ajusta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9E98F431-87C2-C9D6-AE7B-1A4876960788}"/>
              </a:ext>
            </a:extLst>
          </p:cNvPr>
          <p:cNvSpPr/>
          <p:nvPr/>
        </p:nvSpPr>
        <p:spPr>
          <a:xfrm>
            <a:off x="7442200" y="2730500"/>
            <a:ext cx="1371600" cy="1498600"/>
          </a:xfrm>
          <a:prstGeom prst="roundRect">
            <a:avLst/>
          </a:prstGeom>
          <a:solidFill>
            <a:srgbClr val="E0F3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E54E993-E2D2-CB53-820C-5BA0D16A8822}"/>
              </a:ext>
            </a:extLst>
          </p:cNvPr>
          <p:cNvSpPr txBox="1"/>
          <p:nvPr/>
        </p:nvSpPr>
        <p:spPr>
          <a:xfrm>
            <a:off x="7594600" y="2908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DA7FAB-88E6-AB90-6AC2-0A81189CD355}"/>
              </a:ext>
            </a:extLst>
          </p:cNvPr>
          <p:cNvSpPr txBox="1"/>
          <p:nvPr/>
        </p:nvSpPr>
        <p:spPr>
          <a:xfrm>
            <a:off x="7569200" y="3200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700" b="1">
                <a:solidFill>
                  <a:srgbClr val="111827"/>
                </a:solidFill>
                <a:latin typeface="Aptos" panose="020B0004020202020204" pitchFamily="34" charset="0"/>
              </a:rPr>
              <a:t>Confirma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D50E3CA-CF41-231F-6405-722DE158FCC3}"/>
              </a:ext>
            </a:extLst>
          </p:cNvPr>
          <p:cNvSpPr txBox="1"/>
          <p:nvPr/>
        </p:nvSpPr>
        <p:spPr>
          <a:xfrm>
            <a:off x="7569200" y="3581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300">
                <a:solidFill>
                  <a:srgbClr val="4B5563"/>
                </a:solidFill>
                <a:latin typeface="Aptos" panose="020B0004020202020204" pitchFamily="34" charset="0"/>
              </a:rPr>
              <a:t>aprova as alterações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A3A027B8-C3CE-1735-7F6D-D0ADA90B51FA}"/>
              </a:ext>
            </a:extLst>
          </p:cNvPr>
          <p:cNvSpPr/>
          <p:nvPr/>
        </p:nvSpPr>
        <p:spPr>
          <a:xfrm>
            <a:off x="9601200" y="2730500"/>
            <a:ext cx="1371600" cy="1498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F0B5DA4-1A7E-6C4B-F3B4-E4917438940E}"/>
              </a:ext>
            </a:extLst>
          </p:cNvPr>
          <p:cNvSpPr txBox="1"/>
          <p:nvPr/>
        </p:nvSpPr>
        <p:spPr>
          <a:xfrm>
            <a:off x="9753600" y="2908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12691A7-A127-2E9F-601F-BD04CC56C941}"/>
              </a:ext>
            </a:extLst>
          </p:cNvPr>
          <p:cNvSpPr txBox="1"/>
          <p:nvPr/>
        </p:nvSpPr>
        <p:spPr>
          <a:xfrm>
            <a:off x="9728200" y="3200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 b="1">
                <a:solidFill>
                  <a:srgbClr val="111827"/>
                </a:solidFill>
                <a:latin typeface="Aptos" panose="020B0004020202020204" pitchFamily="34" charset="0"/>
              </a:rPr>
              <a:t>Acompanha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25A4E57-AD4B-484E-0E51-806763D1B783}"/>
              </a:ext>
            </a:extLst>
          </p:cNvPr>
          <p:cNvSpPr txBox="1"/>
          <p:nvPr/>
        </p:nvSpPr>
        <p:spPr>
          <a:xfrm>
            <a:off x="9728200" y="3581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300">
                <a:solidFill>
                  <a:srgbClr val="4B5563"/>
                </a:solidFill>
                <a:latin typeface="Aptos" panose="020B0004020202020204" pitchFamily="34" charset="0"/>
              </a:rPr>
              <a:t>nota, Kanban e roadmap vinculados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6E1C0F0-C663-3483-82DA-2244A47D55C2}"/>
              </a:ext>
            </a:extLst>
          </p:cNvPr>
          <p:cNvSpPr/>
          <p:nvPr/>
        </p:nvSpPr>
        <p:spPr>
          <a:xfrm>
            <a:off x="3175000" y="4953000"/>
            <a:ext cx="5842000" cy="558800"/>
          </a:xfrm>
          <a:prstGeom prst="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E6A57E5-AC64-3AB2-54B0-6794F1B03DB5}"/>
              </a:ext>
            </a:extLst>
          </p:cNvPr>
          <p:cNvSpPr txBox="1"/>
          <p:nvPr/>
        </p:nvSpPr>
        <p:spPr>
          <a:xfrm>
            <a:off x="3429000" y="51181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700" b="1">
                <a:solidFill>
                  <a:srgbClr val="FFFFFF"/>
                </a:solidFill>
                <a:latin typeface="Aptos" panose="020B0004020202020204" pitchFamily="34" charset="0"/>
              </a:rPr>
              <a:t>Sem confirmação, não há alteração automática.</a:t>
            </a:r>
          </a:p>
        </p:txBody>
      </p:sp>
    </p:spTree>
    <p:extLst>
      <p:ext uri="{BB962C8B-B14F-4D97-AF65-F5344CB8AC3E}">
        <p14:creationId xmlns:p14="http://schemas.microsoft.com/office/powerpoint/2010/main" val="4041447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57B1D54-64FD-69F1-EE2D-698464211CCE}"/>
              </a:ext>
            </a:extLst>
          </p:cNvPr>
          <p:cNvSpPr txBox="1"/>
          <p:nvPr/>
        </p:nvSpPr>
        <p:spPr>
          <a:xfrm>
            <a:off x="914400" y="533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RISCOS E RESPOSTAS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AC9299-9214-5BE2-CC3D-4F7CFC579E91}"/>
              </a:ext>
            </a:extLst>
          </p:cNvPr>
          <p:cNvSpPr txBox="1"/>
          <p:nvPr/>
        </p:nvSpPr>
        <p:spPr>
          <a:xfrm>
            <a:off x="914400" y="952500"/>
            <a:ext cx="1036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11827"/>
                </a:solidFill>
                <a:latin typeface="Aptos" panose="020B0004020202020204" pitchFamily="34" charset="0"/>
              </a:rPr>
              <a:t>Confiança vem de controle e continuidade.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F9BD298-2007-E261-7FE1-3E42CB3D9A61}"/>
              </a:ext>
            </a:extLst>
          </p:cNvPr>
          <p:cNvCxnSpPr/>
          <p:nvPr/>
        </p:nvCxnSpPr>
        <p:spPr>
          <a:xfrm>
            <a:off x="914400" y="6413500"/>
            <a:ext cx="103632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5D3AE50C-0D34-9EB2-9C6A-6FB9F8949AB9}"/>
              </a:ext>
            </a:extLst>
          </p:cNvPr>
          <p:cNvSpPr txBox="1"/>
          <p:nvPr/>
        </p:nvSpPr>
        <p:spPr>
          <a:xfrm>
            <a:off x="914400" y="6527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 b="1">
                <a:solidFill>
                  <a:srgbClr val="4B5563"/>
                </a:solidFill>
                <a:latin typeface="Aptos" panose="020B0004020202020204" pitchFamily="34" charset="0"/>
              </a:rPr>
              <a:t>ORGANIZADOR PARA PROGRAMADORES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F16073D-971B-F599-235A-47EB73256E18}"/>
              </a:ext>
            </a:extLst>
          </p:cNvPr>
          <p:cNvSpPr txBox="1"/>
          <p:nvPr/>
        </p:nvSpPr>
        <p:spPr>
          <a:xfrm>
            <a:off x="10414000" y="6527800"/>
            <a:ext cx="86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4B5563"/>
                </a:solidFill>
                <a:latin typeface="Aptos" panose="020B0004020202020204" pitchFamily="34" charset="0"/>
              </a:rPr>
              <a:t>07 / 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AF3FD15-9F5E-051D-7FCF-C3FCEF3CB562}"/>
              </a:ext>
            </a:extLst>
          </p:cNvPr>
          <p:cNvSpPr txBox="1"/>
          <p:nvPr/>
        </p:nvSpPr>
        <p:spPr>
          <a:xfrm>
            <a:off x="914400" y="1955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>
                <a:solidFill>
                  <a:srgbClr val="4B5563"/>
                </a:solidFill>
                <a:latin typeface="Aptos" panose="020B0004020202020204" pitchFamily="34" charset="0"/>
              </a:rPr>
              <a:t>O cenário negativo não invalida a ideia; ele define as regras do produto.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FD468DE-ACC6-E2F5-D87E-7C14120D7628}"/>
              </a:ext>
            </a:extLst>
          </p:cNvPr>
          <p:cNvSpPr/>
          <p:nvPr/>
        </p:nvSpPr>
        <p:spPr>
          <a:xfrm>
            <a:off x="914400" y="2730500"/>
            <a:ext cx="4699000" cy="260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BF9F65B-0C7D-A8B7-3A67-A3F905A9BCE0}"/>
              </a:ext>
            </a:extLst>
          </p:cNvPr>
          <p:cNvSpPr txBox="1"/>
          <p:nvPr/>
        </p:nvSpPr>
        <p:spPr>
          <a:xfrm>
            <a:off x="1244600" y="3073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C45546"/>
                </a:solidFill>
                <a:latin typeface="Aptos" panose="020B0004020202020204" pitchFamily="34" charset="0"/>
              </a:rPr>
              <a:t>SE A IA ERRAR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5A3CCEC-B581-AAA3-7DB5-0FD8A8E80C09}"/>
              </a:ext>
            </a:extLst>
          </p:cNvPr>
          <p:cNvSpPr txBox="1"/>
          <p:nvPr/>
        </p:nvSpPr>
        <p:spPr>
          <a:xfrm>
            <a:off x="1244600" y="3581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 b="1">
                <a:solidFill>
                  <a:srgbClr val="111827"/>
                </a:solidFill>
                <a:latin typeface="Aptos" panose="020B0004020202020204" pitchFamily="34" charset="0"/>
              </a:rPr>
              <a:t>Uma prioridade inadequada ou tarefa incompleta pode deixar Kanban e roadmap inconsistentes.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FCCFDBF-1658-0E94-D8FB-E03BA0B8325F}"/>
              </a:ext>
            </a:extLst>
          </p:cNvPr>
          <p:cNvSpPr txBox="1"/>
          <p:nvPr/>
        </p:nvSpPr>
        <p:spPr>
          <a:xfrm>
            <a:off x="1244600" y="4699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b="1">
                <a:solidFill>
                  <a:srgbClr val="C45546"/>
                </a:solidFill>
                <a:latin typeface="Aptos" panose="020B0004020202020204" pitchFamily="34" charset="0"/>
              </a:rPr>
              <a:t>Risco: automatizar antes de entender.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B2474DF-D96F-C1F1-5C19-F4ABB49B3A08}"/>
              </a:ext>
            </a:extLst>
          </p:cNvPr>
          <p:cNvSpPr txBox="1"/>
          <p:nvPr/>
        </p:nvSpPr>
        <p:spPr>
          <a:xfrm>
            <a:off x="6604000" y="2730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2F80ED"/>
                </a:solidFill>
                <a:latin typeface="Aptos" panose="020B0004020202020204" pitchFamily="34" charset="0"/>
              </a:rPr>
              <a:t>PROTEÇÕES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6FE632A-3A84-0389-87B1-417DE7C26272}"/>
              </a:ext>
            </a:extLst>
          </p:cNvPr>
          <p:cNvSpPr txBox="1"/>
          <p:nvPr/>
        </p:nvSpPr>
        <p:spPr>
          <a:xfrm>
            <a:off x="6604000" y="3200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111827"/>
                </a:solidFill>
                <a:latin typeface="Aptos" panose="020B0004020202020204" pitchFamily="34" charset="0"/>
              </a:rPr>
              <a:t>01  mostrar sugestões antes de salvar
02  permitir editar, rejeitar e cancelar
03  confirmar alterações importantes
04  manter vínculos entre nota, tarefa e objetivo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958CE699-4A9A-F6E8-9A7B-CA481654F20F}"/>
              </a:ext>
            </a:extLst>
          </p:cNvPr>
          <p:cNvCxnSpPr/>
          <p:nvPr/>
        </p:nvCxnSpPr>
        <p:spPr>
          <a:xfrm>
            <a:off x="6604000" y="5080000"/>
            <a:ext cx="419100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3416A2C-354F-A7CC-6FC4-415D14FB95FB}"/>
              </a:ext>
            </a:extLst>
          </p:cNvPr>
          <p:cNvSpPr txBox="1"/>
          <p:nvPr/>
        </p:nvSpPr>
        <p:spPr>
          <a:xfrm>
            <a:off x="6604000" y="52832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4B5563"/>
                </a:solidFill>
                <a:latin typeface="Aptos" panose="020B0004020202020204" pitchFamily="34" charset="0"/>
              </a:rPr>
              <a:t>Se a IA estiver indisponível, o usuário continua criando notas, tarefas e objetivos manualmente.</a:t>
            </a:r>
          </a:p>
        </p:txBody>
      </p:sp>
    </p:spTree>
    <p:extLst>
      <p:ext uri="{BB962C8B-B14F-4D97-AF65-F5344CB8AC3E}">
        <p14:creationId xmlns:p14="http://schemas.microsoft.com/office/powerpoint/2010/main" val="1572854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385E822-73F4-2A52-D395-C27C663B57E5}"/>
              </a:ext>
            </a:extLst>
          </p:cNvPr>
          <p:cNvSpPr txBox="1"/>
          <p:nvPr/>
        </p:nvSpPr>
        <p:spPr>
          <a:xfrm>
            <a:off x="914400" y="533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ESCOPO INICIAL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8137AC9-CE00-B872-B52F-8D8FF7A65F2D}"/>
              </a:ext>
            </a:extLst>
          </p:cNvPr>
          <p:cNvSpPr txBox="1"/>
          <p:nvPr/>
        </p:nvSpPr>
        <p:spPr>
          <a:xfrm>
            <a:off x="914400" y="952500"/>
            <a:ext cx="1036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11827"/>
                </a:solidFill>
                <a:latin typeface="Aptos" panose="020B0004020202020204" pitchFamily="34" charset="0"/>
              </a:rPr>
              <a:t>O MVP prova um fluxo, não um ecossistema inteiro.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2185D4E-F940-B1CF-1566-9014C88FD55B}"/>
              </a:ext>
            </a:extLst>
          </p:cNvPr>
          <p:cNvCxnSpPr/>
          <p:nvPr/>
        </p:nvCxnSpPr>
        <p:spPr>
          <a:xfrm>
            <a:off x="914400" y="6413500"/>
            <a:ext cx="103632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CCD5FD7C-7278-FCC1-24BC-471DA862C5F8}"/>
              </a:ext>
            </a:extLst>
          </p:cNvPr>
          <p:cNvSpPr txBox="1"/>
          <p:nvPr/>
        </p:nvSpPr>
        <p:spPr>
          <a:xfrm>
            <a:off x="914400" y="6527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 b="1">
                <a:solidFill>
                  <a:srgbClr val="4B5563"/>
                </a:solidFill>
                <a:latin typeface="Aptos" panose="020B0004020202020204" pitchFamily="34" charset="0"/>
              </a:rPr>
              <a:t>ORGANIZADOR PARA PROGRAMADORES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5D812B-2FD1-91CA-FFD6-40A36119EE6F}"/>
              </a:ext>
            </a:extLst>
          </p:cNvPr>
          <p:cNvSpPr txBox="1"/>
          <p:nvPr/>
        </p:nvSpPr>
        <p:spPr>
          <a:xfrm>
            <a:off x="10414000" y="6527800"/>
            <a:ext cx="86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4B5563"/>
                </a:solidFill>
                <a:latin typeface="Aptos" panose="020B0004020202020204" pitchFamily="34" charset="0"/>
              </a:rPr>
              <a:t>08 / 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4B46A1-BD01-3147-55E1-682D5D726AF9}"/>
              </a:ext>
            </a:extLst>
          </p:cNvPr>
          <p:cNvSpPr txBox="1"/>
          <p:nvPr/>
        </p:nvSpPr>
        <p:spPr>
          <a:xfrm>
            <a:off x="914400" y="1955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>
                <a:solidFill>
                  <a:srgbClr val="4B5563"/>
                </a:solidFill>
                <a:latin typeface="Aptos" panose="020B0004020202020204" pitchFamily="34" charset="0"/>
              </a:rPr>
              <a:t>A primeira versão precisa demonstrar uma transformação completa.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322DEE2-2DB7-CA0C-C83F-967B6EA86657}"/>
              </a:ext>
            </a:extLst>
          </p:cNvPr>
          <p:cNvCxnSpPr/>
          <p:nvPr/>
        </p:nvCxnSpPr>
        <p:spPr>
          <a:xfrm>
            <a:off x="1295400" y="3429000"/>
            <a:ext cx="911860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8A8AA32-12B8-9BFE-2E54-B85E8479773A}"/>
              </a:ext>
            </a:extLst>
          </p:cNvPr>
          <p:cNvSpPr/>
          <p:nvPr/>
        </p:nvSpPr>
        <p:spPr>
          <a:xfrm>
            <a:off x="1155700" y="3289300"/>
            <a:ext cx="279400" cy="279400"/>
          </a:xfrm>
          <a:prstGeom prst="round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CF27D7C-ADAE-B85D-7C33-5D3818B29929}"/>
              </a:ext>
            </a:extLst>
          </p:cNvPr>
          <p:cNvSpPr txBox="1"/>
          <p:nvPr/>
        </p:nvSpPr>
        <p:spPr>
          <a:xfrm>
            <a:off x="1016000" y="28575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5616016-5133-3F8C-C749-5AA6BAA4F8DB}"/>
              </a:ext>
            </a:extLst>
          </p:cNvPr>
          <p:cNvSpPr txBox="1"/>
          <p:nvPr/>
        </p:nvSpPr>
        <p:spPr>
          <a:xfrm>
            <a:off x="596900" y="38354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 b="1">
                <a:solidFill>
                  <a:srgbClr val="111827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138589F-4B0E-94EC-2CA1-20597788988C}"/>
              </a:ext>
            </a:extLst>
          </p:cNvPr>
          <p:cNvSpPr/>
          <p:nvPr/>
        </p:nvSpPr>
        <p:spPr>
          <a:xfrm>
            <a:off x="2971800" y="3289300"/>
            <a:ext cx="279400" cy="279400"/>
          </a:xfrm>
          <a:prstGeom prst="round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CCC956-2C0D-384E-4AA0-9D77FD0E130E}"/>
              </a:ext>
            </a:extLst>
          </p:cNvPr>
          <p:cNvSpPr txBox="1"/>
          <p:nvPr/>
        </p:nvSpPr>
        <p:spPr>
          <a:xfrm>
            <a:off x="2832100" y="28575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015F703-DCDF-6D76-4DE6-9DFA22361016}"/>
              </a:ext>
            </a:extLst>
          </p:cNvPr>
          <p:cNvSpPr txBox="1"/>
          <p:nvPr/>
        </p:nvSpPr>
        <p:spPr>
          <a:xfrm>
            <a:off x="2413000" y="38354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 b="1">
                <a:solidFill>
                  <a:srgbClr val="111827"/>
                </a:solidFill>
                <a:latin typeface="Aptos" panose="020B0004020202020204" pitchFamily="34" charset="0"/>
              </a:rPr>
              <a:t>Notas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C61C011-30DD-ABD1-9931-7F82AEF5F903}"/>
              </a:ext>
            </a:extLst>
          </p:cNvPr>
          <p:cNvSpPr/>
          <p:nvPr/>
        </p:nvSpPr>
        <p:spPr>
          <a:xfrm>
            <a:off x="4787900" y="3289300"/>
            <a:ext cx="279400" cy="279400"/>
          </a:xfrm>
          <a:prstGeom prst="roundRect">
            <a:avLst/>
          </a:prstGeom>
          <a:solidFill>
            <a:srgbClr val="2F80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EB35644-7329-9B68-2475-6C1E71482122}"/>
              </a:ext>
            </a:extLst>
          </p:cNvPr>
          <p:cNvSpPr txBox="1"/>
          <p:nvPr/>
        </p:nvSpPr>
        <p:spPr>
          <a:xfrm>
            <a:off x="4648200" y="28575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455971D-C4CF-702A-A59B-2DFCB44B9287}"/>
              </a:ext>
            </a:extLst>
          </p:cNvPr>
          <p:cNvSpPr txBox="1"/>
          <p:nvPr/>
        </p:nvSpPr>
        <p:spPr>
          <a:xfrm>
            <a:off x="4229100" y="38354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 b="1">
                <a:solidFill>
                  <a:srgbClr val="111827"/>
                </a:solidFill>
                <a:latin typeface="Aptos" panose="020B0004020202020204" pitchFamily="34" charset="0"/>
              </a:rPr>
              <a:t>Análise IA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9F6F5BE-044E-9C4E-647C-26AC7B7374E0}"/>
              </a:ext>
            </a:extLst>
          </p:cNvPr>
          <p:cNvSpPr/>
          <p:nvPr/>
        </p:nvSpPr>
        <p:spPr>
          <a:xfrm>
            <a:off x="6604000" y="3289300"/>
            <a:ext cx="279400" cy="279400"/>
          </a:xfrm>
          <a:prstGeom prst="round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B1464C4-07B1-31BB-91A5-5D09109CFB20}"/>
              </a:ext>
            </a:extLst>
          </p:cNvPr>
          <p:cNvSpPr txBox="1"/>
          <p:nvPr/>
        </p:nvSpPr>
        <p:spPr>
          <a:xfrm>
            <a:off x="6464300" y="28575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3FFACD7-0F66-E392-A040-944203861F5E}"/>
              </a:ext>
            </a:extLst>
          </p:cNvPr>
          <p:cNvSpPr txBox="1"/>
          <p:nvPr/>
        </p:nvSpPr>
        <p:spPr>
          <a:xfrm>
            <a:off x="6045200" y="38354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 b="1">
                <a:solidFill>
                  <a:srgbClr val="111827"/>
                </a:solidFill>
                <a:latin typeface="Aptos" panose="020B0004020202020204" pitchFamily="34" charset="0"/>
              </a:rPr>
              <a:t>Revisão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A3B1178-F33B-4C28-D435-F70C2486B1C5}"/>
              </a:ext>
            </a:extLst>
          </p:cNvPr>
          <p:cNvSpPr/>
          <p:nvPr/>
        </p:nvSpPr>
        <p:spPr>
          <a:xfrm>
            <a:off x="8420100" y="3289300"/>
            <a:ext cx="279400" cy="279400"/>
          </a:xfrm>
          <a:prstGeom prst="round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94B153F-4B86-4F6D-0290-E1E8030BB02C}"/>
              </a:ext>
            </a:extLst>
          </p:cNvPr>
          <p:cNvSpPr txBox="1"/>
          <p:nvPr/>
        </p:nvSpPr>
        <p:spPr>
          <a:xfrm>
            <a:off x="8280400" y="28575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574EDD5-299C-5C88-B00E-903FC8903917}"/>
              </a:ext>
            </a:extLst>
          </p:cNvPr>
          <p:cNvSpPr txBox="1"/>
          <p:nvPr/>
        </p:nvSpPr>
        <p:spPr>
          <a:xfrm>
            <a:off x="7861300" y="38354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 b="1">
                <a:solidFill>
                  <a:srgbClr val="111827"/>
                </a:solidFill>
                <a:latin typeface="Aptos" panose="020B0004020202020204" pitchFamily="34" charset="0"/>
              </a:rPr>
              <a:t>Kanban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E37D15EB-950A-8193-17C9-B91E8838844C}"/>
              </a:ext>
            </a:extLst>
          </p:cNvPr>
          <p:cNvSpPr/>
          <p:nvPr/>
        </p:nvSpPr>
        <p:spPr>
          <a:xfrm>
            <a:off x="10236200" y="3289300"/>
            <a:ext cx="279400" cy="279400"/>
          </a:xfrm>
          <a:prstGeom prst="round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EB030CF-159C-67F8-0691-613B1D4A8FCE}"/>
              </a:ext>
            </a:extLst>
          </p:cNvPr>
          <p:cNvSpPr txBox="1"/>
          <p:nvPr/>
        </p:nvSpPr>
        <p:spPr>
          <a:xfrm>
            <a:off x="10096500" y="28575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6D98892-8768-E3DC-C205-9F4A7F84F1F6}"/>
              </a:ext>
            </a:extLst>
          </p:cNvPr>
          <p:cNvSpPr txBox="1"/>
          <p:nvPr/>
        </p:nvSpPr>
        <p:spPr>
          <a:xfrm>
            <a:off x="9677400" y="38354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 b="1">
                <a:solidFill>
                  <a:srgbClr val="111827"/>
                </a:solidFill>
                <a:latin typeface="Aptos" panose="020B0004020202020204" pitchFamily="34" charset="0"/>
              </a:rPr>
              <a:t>Roadmap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1BF385C-EC8A-810E-5C57-D7DA65557736}"/>
              </a:ext>
            </a:extLst>
          </p:cNvPr>
          <p:cNvSpPr txBox="1"/>
          <p:nvPr/>
        </p:nvSpPr>
        <p:spPr>
          <a:xfrm>
            <a:off x="914400" y="48895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b="1">
                <a:solidFill>
                  <a:srgbClr val="2F80ED"/>
                </a:solidFill>
                <a:latin typeface="Aptos" panose="020B0004020202020204" pitchFamily="34" charset="0"/>
              </a:rPr>
              <a:t>Dentro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231572B-3ABD-DEC9-AF57-D6AF1FB402F8}"/>
              </a:ext>
            </a:extLst>
          </p:cNvPr>
          <p:cNvSpPr txBox="1"/>
          <p:nvPr/>
        </p:nvSpPr>
        <p:spPr>
          <a:xfrm>
            <a:off x="2413000" y="48895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111827"/>
                </a:solidFill>
                <a:latin typeface="Aptos" panose="020B0004020202020204" pitchFamily="34" charset="0"/>
              </a:rPr>
              <a:t>fluxo principal, vínculos entre objetos, revisão da IA e caminho manual.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35EF992-BB9B-D025-B77D-2B117CB0EACB}"/>
              </a:ext>
            </a:extLst>
          </p:cNvPr>
          <p:cNvSpPr txBox="1"/>
          <p:nvPr/>
        </p:nvSpPr>
        <p:spPr>
          <a:xfrm>
            <a:off x="914400" y="53975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b="1">
                <a:solidFill>
                  <a:srgbClr val="C45546"/>
                </a:solidFill>
                <a:latin typeface="Aptos" panose="020B0004020202020204" pitchFamily="34" charset="0"/>
              </a:rPr>
              <a:t>Depois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2C39C4D-2D43-0265-0372-E24EC2780CF7}"/>
              </a:ext>
            </a:extLst>
          </p:cNvPr>
          <p:cNvSpPr txBox="1"/>
          <p:nvPr/>
        </p:nvSpPr>
        <p:spPr>
          <a:xfrm>
            <a:off x="2413000" y="53975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4B5563"/>
                </a:solidFill>
                <a:latin typeface="Aptos" panose="020B0004020202020204" pitchFamily="34" charset="0"/>
              </a:rPr>
              <a:t>colaboração em equipe, notificações e integrações externas.</a:t>
            </a:r>
          </a:p>
        </p:txBody>
      </p:sp>
    </p:spTree>
    <p:extLst>
      <p:ext uri="{BB962C8B-B14F-4D97-AF65-F5344CB8AC3E}">
        <p14:creationId xmlns:p14="http://schemas.microsoft.com/office/powerpoint/2010/main" val="3769537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C7EE4A4-4600-CDA6-2118-58821CF76245}"/>
              </a:ext>
            </a:extLst>
          </p:cNvPr>
          <p:cNvSpPr txBox="1"/>
          <p:nvPr/>
        </p:nvSpPr>
        <p:spPr>
          <a:xfrm>
            <a:off x="914400" y="533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REQUISITOS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AB9E258-F9A9-1EF1-54F5-E6B060B439C7}"/>
              </a:ext>
            </a:extLst>
          </p:cNvPr>
          <p:cNvSpPr txBox="1"/>
          <p:nvPr/>
        </p:nvSpPr>
        <p:spPr>
          <a:xfrm>
            <a:off x="914400" y="952500"/>
            <a:ext cx="1036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11827"/>
                </a:solidFill>
                <a:latin typeface="Aptos" panose="020B0004020202020204" pitchFamily="34" charset="0"/>
              </a:rPr>
              <a:t>O primeiro recorte já tem critérios objetivos de sucesso.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AF5DD23-80D1-AF05-3096-68B87B53BD67}"/>
              </a:ext>
            </a:extLst>
          </p:cNvPr>
          <p:cNvCxnSpPr/>
          <p:nvPr/>
        </p:nvCxnSpPr>
        <p:spPr>
          <a:xfrm>
            <a:off x="914400" y="6413500"/>
            <a:ext cx="103632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8537C8EB-04C7-AFD2-9EB3-15ADD8B0F90A}"/>
              </a:ext>
            </a:extLst>
          </p:cNvPr>
          <p:cNvSpPr txBox="1"/>
          <p:nvPr/>
        </p:nvSpPr>
        <p:spPr>
          <a:xfrm>
            <a:off x="914400" y="6527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 b="1">
                <a:solidFill>
                  <a:srgbClr val="4B5563"/>
                </a:solidFill>
                <a:latin typeface="Aptos" panose="020B0004020202020204" pitchFamily="34" charset="0"/>
              </a:rPr>
              <a:t>ORGANIZADOR PARA PROGRAMADORES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10C9721-3FE3-B0A3-D58C-E3D2AEB599F0}"/>
              </a:ext>
            </a:extLst>
          </p:cNvPr>
          <p:cNvSpPr txBox="1"/>
          <p:nvPr/>
        </p:nvSpPr>
        <p:spPr>
          <a:xfrm>
            <a:off x="10414000" y="6527800"/>
            <a:ext cx="86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4B5563"/>
                </a:solidFill>
                <a:latin typeface="Aptos" panose="020B0004020202020204" pitchFamily="34" charset="0"/>
              </a:rPr>
              <a:t>09 / 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EFFAA5-7504-A541-2694-E3EEBA70ABB6}"/>
              </a:ext>
            </a:extLst>
          </p:cNvPr>
          <p:cNvSpPr txBox="1"/>
          <p:nvPr/>
        </p:nvSpPr>
        <p:spPr>
          <a:xfrm>
            <a:off x="914400" y="20955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b="1">
                <a:solidFill>
                  <a:srgbClr val="2F80ED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6B692D8-47D3-716F-DE9C-533703AA50F9}"/>
              </a:ext>
            </a:extLst>
          </p:cNvPr>
          <p:cNvSpPr txBox="1"/>
          <p:nvPr/>
        </p:nvSpPr>
        <p:spPr>
          <a:xfrm>
            <a:off x="1651000" y="20955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111827"/>
                </a:solidFill>
                <a:latin typeface="Aptos" panose="020B0004020202020204" pitchFamily="34" charset="0"/>
              </a:rPr>
              <a:t>Organizar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78AADA4-94FC-2183-F4EC-3C8873B4D721}"/>
              </a:ext>
            </a:extLst>
          </p:cNvPr>
          <p:cNvSpPr txBox="1"/>
          <p:nvPr/>
        </p:nvSpPr>
        <p:spPr>
          <a:xfrm>
            <a:off x="4191000" y="2095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4B5563"/>
                </a:solidFill>
                <a:latin typeface="Aptos" panose="020B0004020202020204" pitchFamily="34" charset="0"/>
              </a:rPr>
              <a:t>notas, tarefas, Kanban, objetivos e marcos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A56137E-81B1-9EEA-C29F-76E36FDC354E}"/>
              </a:ext>
            </a:extLst>
          </p:cNvPr>
          <p:cNvCxnSpPr/>
          <p:nvPr/>
        </p:nvCxnSpPr>
        <p:spPr>
          <a:xfrm>
            <a:off x="1651000" y="2641600"/>
            <a:ext cx="9144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9C9AA50-23A3-3EEB-67D8-F5946BAB21E3}"/>
              </a:ext>
            </a:extLst>
          </p:cNvPr>
          <p:cNvSpPr txBox="1"/>
          <p:nvPr/>
        </p:nvSpPr>
        <p:spPr>
          <a:xfrm>
            <a:off x="914400" y="31115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b="1">
                <a:solidFill>
                  <a:srgbClr val="2F80ED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44B2F6C-98D5-DD11-3AA0-DA4D14513D09}"/>
              </a:ext>
            </a:extLst>
          </p:cNvPr>
          <p:cNvSpPr txBox="1"/>
          <p:nvPr/>
        </p:nvSpPr>
        <p:spPr>
          <a:xfrm>
            <a:off x="1651000" y="31115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111827"/>
                </a:solidFill>
                <a:latin typeface="Aptos" panose="020B0004020202020204" pitchFamily="34" charset="0"/>
              </a:rPr>
              <a:t>Relacionar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65E0030-D697-335F-28C0-48F53CF3067E}"/>
              </a:ext>
            </a:extLst>
          </p:cNvPr>
          <p:cNvSpPr txBox="1"/>
          <p:nvPr/>
        </p:nvSpPr>
        <p:spPr>
          <a:xfrm>
            <a:off x="4191000" y="3111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4B5563"/>
                </a:solidFill>
                <a:latin typeface="Aptos" panose="020B0004020202020204" pitchFamily="34" charset="0"/>
              </a:rPr>
              <a:t>nota, tarefa e roadmap permanecem vinculados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CD40E0FB-677C-BE01-B42E-50F8D34866CC}"/>
              </a:ext>
            </a:extLst>
          </p:cNvPr>
          <p:cNvCxnSpPr/>
          <p:nvPr/>
        </p:nvCxnSpPr>
        <p:spPr>
          <a:xfrm>
            <a:off x="1651000" y="3657600"/>
            <a:ext cx="9144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459A9B7-3E5E-F174-BD53-D3B7C0BCA53B}"/>
              </a:ext>
            </a:extLst>
          </p:cNvPr>
          <p:cNvSpPr txBox="1"/>
          <p:nvPr/>
        </p:nvSpPr>
        <p:spPr>
          <a:xfrm>
            <a:off x="914400" y="41275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b="1">
                <a:solidFill>
                  <a:srgbClr val="2F80ED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2A3005F-B225-26AE-59F0-71B711FFB9C1}"/>
              </a:ext>
            </a:extLst>
          </p:cNvPr>
          <p:cNvSpPr txBox="1"/>
          <p:nvPr/>
        </p:nvSpPr>
        <p:spPr>
          <a:xfrm>
            <a:off x="1651000" y="41275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111827"/>
                </a:solidFill>
                <a:latin typeface="Aptos" panose="020B0004020202020204" pitchFamily="34" charset="0"/>
              </a:rPr>
              <a:t>Assistir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86C8B90-0A4B-1236-1FAA-9A64AE9CBF3F}"/>
              </a:ext>
            </a:extLst>
          </p:cNvPr>
          <p:cNvSpPr txBox="1"/>
          <p:nvPr/>
        </p:nvSpPr>
        <p:spPr>
          <a:xfrm>
            <a:off x="4191000" y="4127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4B5563"/>
                </a:solidFill>
                <a:latin typeface="Aptos" panose="020B0004020202020204" pitchFamily="34" charset="0"/>
              </a:rPr>
              <a:t>IA sugere tarefas, prioridade e próximos passos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9F60372B-4722-891A-7432-6FADE3ABD0D5}"/>
              </a:ext>
            </a:extLst>
          </p:cNvPr>
          <p:cNvCxnSpPr/>
          <p:nvPr/>
        </p:nvCxnSpPr>
        <p:spPr>
          <a:xfrm>
            <a:off x="1651000" y="4673600"/>
            <a:ext cx="9144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A1FFE4F-3329-E892-A426-559ED5F9364E}"/>
              </a:ext>
            </a:extLst>
          </p:cNvPr>
          <p:cNvSpPr txBox="1"/>
          <p:nvPr/>
        </p:nvSpPr>
        <p:spPr>
          <a:xfrm>
            <a:off x="914400" y="51435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b="1">
                <a:solidFill>
                  <a:srgbClr val="2F80ED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7FB3AD0-6400-F26F-0AB8-37861153E476}"/>
              </a:ext>
            </a:extLst>
          </p:cNvPr>
          <p:cNvSpPr txBox="1"/>
          <p:nvPr/>
        </p:nvSpPr>
        <p:spPr>
          <a:xfrm>
            <a:off x="1651000" y="51435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111827"/>
                </a:solidFill>
                <a:latin typeface="Aptos" panose="020B0004020202020204" pitchFamily="34" charset="0"/>
              </a:rPr>
              <a:t>Preservar controle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AF70B3A-83CA-EC92-4958-5E373F7EF929}"/>
              </a:ext>
            </a:extLst>
          </p:cNvPr>
          <p:cNvSpPr txBox="1"/>
          <p:nvPr/>
        </p:nvSpPr>
        <p:spPr>
          <a:xfrm>
            <a:off x="4191000" y="5143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4B5563"/>
                </a:solidFill>
                <a:latin typeface="Aptos" panose="020B0004020202020204" pitchFamily="34" charset="0"/>
              </a:rPr>
              <a:t>usuário edita, rejeita e confirma; manual continua disponível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E5B6F006-51EF-A970-22B5-579AA48FD00A}"/>
              </a:ext>
            </a:extLst>
          </p:cNvPr>
          <p:cNvCxnSpPr/>
          <p:nvPr/>
        </p:nvCxnSpPr>
        <p:spPr>
          <a:xfrm>
            <a:off x="1651000" y="5689600"/>
            <a:ext cx="9144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ângulo 22">
            <a:extLst>
              <a:ext uri="{FF2B5EF4-FFF2-40B4-BE49-F238E27FC236}">
                <a16:creationId xmlns:a16="http://schemas.microsoft.com/office/drawing/2014/main" id="{847DA278-5F97-5163-FB26-AE9320D4DE47}"/>
              </a:ext>
            </a:extLst>
          </p:cNvPr>
          <p:cNvSpPr/>
          <p:nvPr/>
        </p:nvSpPr>
        <p:spPr>
          <a:xfrm>
            <a:off x="914400" y="5867400"/>
            <a:ext cx="9880600" cy="355600"/>
          </a:xfrm>
          <a:prstGeom prst="rect">
            <a:avLst/>
          </a:prstGeom>
          <a:solidFill>
            <a:srgbClr val="E0F3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715398A-06C7-0EB2-6D64-72A98422296E}"/>
              </a:ext>
            </a:extLst>
          </p:cNvPr>
          <p:cNvSpPr txBox="1"/>
          <p:nvPr/>
        </p:nvSpPr>
        <p:spPr>
          <a:xfrm>
            <a:off x="1117600" y="5943600"/>
            <a:ext cx="944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111827"/>
                </a:solidFill>
                <a:latin typeface="Aptos" panose="020B0004020202020204" pitchFamily="34" charset="0"/>
              </a:rPr>
              <a:t>Aceitação: só salvar após confirmação; vínculos preservados; alterações importantes editáveis ou reversíveis.</a:t>
            </a:r>
          </a:p>
        </p:txBody>
      </p:sp>
    </p:spTree>
    <p:extLst>
      <p:ext uri="{BB962C8B-B14F-4D97-AF65-F5344CB8AC3E}">
        <p14:creationId xmlns:p14="http://schemas.microsoft.com/office/powerpoint/2010/main" val="161768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ED5C8C1-E588-55FD-1854-225F21E459BF}"/>
              </a:ext>
            </a:extLst>
          </p:cNvPr>
          <p:cNvSpPr txBox="1"/>
          <p:nvPr/>
        </p:nvSpPr>
        <p:spPr>
          <a:xfrm>
            <a:off x="914400" y="533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2F80ED"/>
                </a:solidFill>
                <a:latin typeface="Aptos" panose="020B0004020202020204" pitchFamily="34" charset="0"/>
              </a:rPr>
              <a:t>DEFESA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BEC6FF-439F-3D44-F750-36A6BE9CB18D}"/>
              </a:ext>
            </a:extLst>
          </p:cNvPr>
          <p:cNvSpPr txBox="1"/>
          <p:nvPr/>
        </p:nvSpPr>
        <p:spPr>
          <a:xfrm>
            <a:off x="914400" y="952500"/>
            <a:ext cx="1036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11827"/>
                </a:solidFill>
                <a:latin typeface="Aptos" panose="020B0004020202020204" pitchFamily="34" charset="0"/>
              </a:rPr>
              <a:t>A proposta é simples de entender e possível de validar.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CA42E67-98B6-5CCA-0BE4-6D232A619F3C}"/>
              </a:ext>
            </a:extLst>
          </p:cNvPr>
          <p:cNvCxnSpPr/>
          <p:nvPr/>
        </p:nvCxnSpPr>
        <p:spPr>
          <a:xfrm>
            <a:off x="914400" y="6413500"/>
            <a:ext cx="103632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AB37AE54-5B80-34BB-F438-56340217EE83}"/>
              </a:ext>
            </a:extLst>
          </p:cNvPr>
          <p:cNvSpPr txBox="1"/>
          <p:nvPr/>
        </p:nvSpPr>
        <p:spPr>
          <a:xfrm>
            <a:off x="914400" y="6527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 b="1">
                <a:solidFill>
                  <a:srgbClr val="4B5563"/>
                </a:solidFill>
                <a:latin typeface="Aptos" panose="020B0004020202020204" pitchFamily="34" charset="0"/>
              </a:rPr>
              <a:t>ORGANIZADOR PARA PROGRAMADORES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97CB5EE-A4E6-AB9B-10B4-87028B1250B8}"/>
              </a:ext>
            </a:extLst>
          </p:cNvPr>
          <p:cNvSpPr txBox="1"/>
          <p:nvPr/>
        </p:nvSpPr>
        <p:spPr>
          <a:xfrm>
            <a:off x="10414000" y="6527800"/>
            <a:ext cx="86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4B5563"/>
                </a:solidFill>
                <a:latin typeface="Aptos" panose="020B0004020202020204" pitchFamily="34" charset="0"/>
              </a:rPr>
              <a:t>10 / 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A2BC12-BC25-9B7F-F80C-56D540900A98}"/>
              </a:ext>
            </a:extLst>
          </p:cNvPr>
          <p:cNvSpPr txBox="1"/>
          <p:nvPr/>
        </p:nvSpPr>
        <p:spPr>
          <a:xfrm>
            <a:off x="914400" y="19685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2F80ED"/>
                </a:solidFill>
                <a:latin typeface="Aptos" panose="020B0004020202020204" pitchFamily="34" charset="0"/>
              </a:rPr>
              <a:t>O argumento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144D1E-78E4-8A85-1952-55024CCA750D}"/>
              </a:ext>
            </a:extLst>
          </p:cNvPr>
          <p:cNvSpPr txBox="1"/>
          <p:nvPr/>
        </p:nvSpPr>
        <p:spPr>
          <a:xfrm>
            <a:off x="914400" y="2451100"/>
            <a:ext cx="463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500" b="1">
                <a:solidFill>
                  <a:srgbClr val="111827"/>
                </a:solidFill>
                <a:latin typeface="Aptos" panose="020B0004020202020204" pitchFamily="34" charset="0"/>
              </a:rPr>
              <a:t>Programadores não precisam de mais uma ferramenta isolada. Precisam de continuidade entre ideia, execução e direção.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7BC4991-D41B-F141-8E13-8B410D6DDB26}"/>
              </a:ext>
            </a:extLst>
          </p:cNvPr>
          <p:cNvCxnSpPr/>
          <p:nvPr/>
        </p:nvCxnSpPr>
        <p:spPr>
          <a:xfrm>
            <a:off x="6350000" y="2032000"/>
            <a:ext cx="0" cy="355600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6DC3EC5-B23B-52F0-121E-B923CB480CD0}"/>
              </a:ext>
            </a:extLst>
          </p:cNvPr>
          <p:cNvSpPr txBox="1"/>
          <p:nvPr/>
        </p:nvSpPr>
        <p:spPr>
          <a:xfrm>
            <a:off x="7112000" y="1968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2F80ED"/>
                </a:solidFill>
                <a:latin typeface="Aptos" panose="020B0004020202020204" pitchFamily="34" charset="0"/>
              </a:rPr>
              <a:t>Próximos passos de validação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B9FFD25-DE18-2B8E-DBDE-F505BDF08610}"/>
              </a:ext>
            </a:extLst>
          </p:cNvPr>
          <p:cNvSpPr txBox="1"/>
          <p:nvPr/>
        </p:nvSpPr>
        <p:spPr>
          <a:xfrm>
            <a:off x="7112000" y="2565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111827"/>
                </a:solidFill>
                <a:latin typeface="Aptos" panose="020B0004020202020204" pitchFamily="34" charset="0"/>
              </a:rPr>
              <a:t>01  observar perdas de ideia e prioridade por uma semana
02  entrevistar 3 a 5 programadores semelhantes
03  desenhar o fluxo em Figma
04  testar se a revisão antes da confirmação gera confiança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D6A3082-3A82-FBCA-C9ED-3CB2405DC3D0}"/>
              </a:ext>
            </a:extLst>
          </p:cNvPr>
          <p:cNvSpPr/>
          <p:nvPr/>
        </p:nvSpPr>
        <p:spPr>
          <a:xfrm>
            <a:off x="7112000" y="4826000"/>
            <a:ext cx="3810000" cy="965200"/>
          </a:xfrm>
          <a:prstGeom prst="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8A70428-92C5-36C5-E3C8-E1BDC1EAA9EE}"/>
              </a:ext>
            </a:extLst>
          </p:cNvPr>
          <p:cNvSpPr txBox="1"/>
          <p:nvPr/>
        </p:nvSpPr>
        <p:spPr>
          <a:xfrm>
            <a:off x="7366000" y="49911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400" b="1">
                <a:solidFill>
                  <a:srgbClr val="FFFFFF"/>
                </a:solidFill>
                <a:latin typeface="Aptos" panose="020B0004020202020204" pitchFamily="34" charset="0"/>
              </a:rPr>
              <a:t>Pergunta para discussão
O que faria você confiar essa organização à IA?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41495A4-1CB8-8326-245A-6D1ED3212B0A}"/>
              </a:ext>
            </a:extLst>
          </p:cNvPr>
          <p:cNvSpPr txBox="1"/>
          <p:nvPr/>
        </p:nvSpPr>
        <p:spPr>
          <a:xfrm>
            <a:off x="914400" y="57785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4B5563"/>
                </a:solidFill>
                <a:latin typeface="Aptos" panose="020B0004020202020204" pitchFamily="34" charset="0"/>
              </a:rPr>
              <a:t>As conclusões ainda são hipóteses: a coleta com outros usuários e o protótipo interativo estão pendentes.</a:t>
            </a:r>
          </a:p>
        </p:txBody>
      </p:sp>
    </p:spTree>
    <p:extLst>
      <p:ext uri="{BB962C8B-B14F-4D97-AF65-F5344CB8AC3E}">
        <p14:creationId xmlns:p14="http://schemas.microsoft.com/office/powerpoint/2010/main" val="37627830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993</Words>
  <Application>Microsoft Office PowerPoint</Application>
  <PresentationFormat>Personalizar</PresentationFormat>
  <Paragraphs>188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VICTOR AMORA FEITOSA NERI</dc:creator>
  <cp:lastModifiedBy>JOAO VICTOR AMORA FEITOSA NERI</cp:lastModifiedBy>
  <cp:revision>1</cp:revision>
  <dcterms:created xsi:type="dcterms:W3CDTF">2026-08-20T00:12:26Z</dcterms:created>
  <dcterms:modified xsi:type="dcterms:W3CDTF">2026-08-20T00:12:26Z</dcterms:modified>
</cp:coreProperties>
</file>